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4" r:id="rId2"/>
    <p:sldId id="304" r:id="rId3"/>
    <p:sldId id="312" r:id="rId4"/>
    <p:sldId id="305" r:id="rId5"/>
    <p:sldId id="307" r:id="rId6"/>
    <p:sldId id="308" r:id="rId7"/>
    <p:sldId id="309" r:id="rId8"/>
    <p:sldId id="310" r:id="rId9"/>
    <p:sldId id="276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qiufang (A)" initials="m(" lastIdx="2" clrIdx="0">
    <p:extLst>
      <p:ext uri="{19B8F6BF-5375-455C-9EA6-DF929625EA0E}">
        <p15:presenceInfo xmlns:p15="http://schemas.microsoft.com/office/powerpoint/2012/main" userId="S-1-5-21-147214757-305610072-1517763936-66817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01" autoAdjust="0"/>
    <p:restoredTop sz="96424" autoAdjust="0"/>
  </p:normalViewPr>
  <p:slideViewPr>
    <p:cSldViewPr snapToGrid="0">
      <p:cViewPr varScale="1">
        <p:scale>
          <a:sx n="115" d="100"/>
          <a:sy n="115" d="100"/>
        </p:scale>
        <p:origin x="3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37958-EF2B-4A94-85A4-43EA6C792211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A639ED-4FBF-424E-9419-8783A67985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8175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and issues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A639ED-4FBF-424E-9419-8783A67985F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9642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A639ED-4FBF-424E-9419-8783A67985FB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65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136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4005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7303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8432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0913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7413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9498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4753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438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9864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23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283332-0ADC-44CE-A8C7-BB44D9873E20}" type="datetimeFigureOut">
              <a:rPr lang="zh-CN" altLang="en-US" smtClean="0"/>
              <a:t>2026/3/9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F2A26F-F772-4C7D-A4AB-F178FA8385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1011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etmod-wg/template-reqs/issue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tt-netmod-yang-config-templates-02#regex" TargetMode="External"/><Relationship Id="rId3" Type="http://schemas.openxmlformats.org/officeDocument/2006/relationships/hyperlink" Target="https://datatracker.ietf.org/doc/html/draft-tt-netmod-yang-config-templates-02#define-templates" TargetMode="External"/><Relationship Id="rId7" Type="http://schemas.openxmlformats.org/officeDocument/2006/relationships/hyperlink" Target="https://datatracker.ietf.org/doc/html/draft-tt-netmod-yang-config-templates-02#interact-NMDA" TargetMode="External"/><Relationship Id="rId2" Type="http://schemas.openxmlformats.org/officeDocument/2006/relationships/hyperlink" Target="https://datatracker.ietf.org/doc/html/draft-tt-netmod-yang-config-templates-02#inheriting-tem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atracker.ietf.org/doc/html/draft-tt-netmod-yang-config-templates-02#operational-consideration" TargetMode="External"/><Relationship Id="rId5" Type="http://schemas.openxmlformats.org/officeDocument/2006/relationships/hyperlink" Target="https://datatracker.ietf.org/doc/html/draft-tt-netmod-yang-config-templates-02#expand-templates" TargetMode="External"/><Relationship Id="rId4" Type="http://schemas.openxmlformats.org/officeDocument/2006/relationships/hyperlink" Target="https://datatracker.ietf.org/doc/html/draft-tt-netmod-yang-config-templates-02#overriding-temp" TargetMode="External"/><Relationship Id="rId9" Type="http://schemas.openxmlformats.org/officeDocument/2006/relationships/hyperlink" Target="https://datatracker.ietf.org/doc/html/draft-tt-netmod-yang-config-templates-02#interact-non-NMDA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639408" y="539496"/>
            <a:ext cx="9857094" cy="1785250"/>
          </a:xfrm>
        </p:spPr>
        <p:txBody>
          <a:bodyPr>
            <a:normAutofit/>
          </a:bodyPr>
          <a:lstStyle/>
          <a:p>
            <a:r>
              <a:rPr lang="en-US" altLang="zh-CN" sz="5400" dirty="0"/>
              <a:t>YANG Configuration Templates</a:t>
            </a:r>
            <a:endParaRPr lang="zh-CN" altLang="en-US" sz="5400" dirty="0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3823C86-A1F6-45D9-9D7E-8B6ECB9CAA23}" type="slidenum">
              <a:rPr lang="en-US" smtClean="0"/>
              <a:t>1</a:t>
            </a:fld>
            <a:endParaRPr lang="en-US" dirty="0"/>
          </a:p>
        </p:txBody>
      </p:sp>
      <p:sp>
        <p:nvSpPr>
          <p:cNvPr id="5" name="矩形 4"/>
          <p:cNvSpPr/>
          <p:nvPr/>
        </p:nvSpPr>
        <p:spPr>
          <a:xfrm>
            <a:off x="3003190" y="2811080"/>
            <a:ext cx="646125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/>
              <a:t>draft-tt-netmod-yang-config-templates-02</a:t>
            </a:r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3513748" y="3840174"/>
            <a:ext cx="5213230" cy="981208"/>
          </a:xfrm>
        </p:spPr>
        <p:txBody>
          <a:bodyPr>
            <a:noAutofit/>
          </a:bodyPr>
          <a:lstStyle/>
          <a:p>
            <a:pPr>
              <a:lnSpc>
                <a:spcPts val="1800"/>
              </a:lnSpc>
            </a:pPr>
            <a:r>
              <a:rPr lang="en-US" sz="2000" dirty="0" smtClean="0"/>
              <a:t>Robert Wills (Cisco)</a:t>
            </a:r>
          </a:p>
          <a:p>
            <a:pPr>
              <a:lnSpc>
                <a:spcPts val="1800"/>
              </a:lnSpc>
            </a:pPr>
            <a:r>
              <a:rPr lang="en-US" sz="2000" dirty="0" smtClean="0"/>
              <a:t>Qiufang </a:t>
            </a:r>
            <a:r>
              <a:rPr lang="en-US" sz="2000" dirty="0" smtClean="0"/>
              <a:t>Ma (Huawei</a:t>
            </a:r>
            <a:r>
              <a:rPr lang="en-US" sz="2000" dirty="0" smtClean="0"/>
              <a:t>) </a:t>
            </a:r>
            <a:endParaRPr lang="en-US" sz="2000" b="1" dirty="0" smtClean="0"/>
          </a:p>
          <a:p>
            <a:pPr>
              <a:lnSpc>
                <a:spcPts val="1800"/>
              </a:lnSpc>
            </a:pPr>
            <a:r>
              <a:rPr lang="en-US" sz="2000" dirty="0"/>
              <a:t>Deepak Rajaram </a:t>
            </a:r>
            <a:r>
              <a:rPr lang="en-US" sz="2000" dirty="0" smtClean="0"/>
              <a:t>(Nokia)</a:t>
            </a:r>
            <a:endParaRPr lang="en-US" sz="2000" dirty="0"/>
          </a:p>
        </p:txBody>
      </p:sp>
      <p:sp>
        <p:nvSpPr>
          <p:cNvPr id="8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 smtClean="0"/>
              <a:t>IETF125 </a:t>
            </a:r>
            <a:r>
              <a:rPr lang="en-US" dirty="0"/>
              <a:t>NETMOD Hybrid Meeting</a:t>
            </a:r>
          </a:p>
        </p:txBody>
      </p:sp>
    </p:spTree>
    <p:extLst>
      <p:ext uri="{BB962C8B-B14F-4D97-AF65-F5344CB8AC3E}">
        <p14:creationId xmlns:p14="http://schemas.microsoft.com/office/powerpoint/2010/main" val="1049141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5227" y="216131"/>
            <a:ext cx="10515600" cy="877931"/>
          </a:xfrm>
        </p:spPr>
        <p:txBody>
          <a:bodyPr/>
          <a:lstStyle/>
          <a:p>
            <a:pPr algn="ctr"/>
            <a:r>
              <a:rPr lang="en-US" b="1" dirty="0"/>
              <a:t>Recap</a:t>
            </a:r>
          </a:p>
        </p:txBody>
      </p:sp>
      <p:sp>
        <p:nvSpPr>
          <p:cNvPr id="7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8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 smtClean="0"/>
              <a:t>IETF125 </a:t>
            </a:r>
            <a:r>
              <a:rPr lang="en-US" dirty="0"/>
              <a:t>NETMOD Hybrid Meeting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838199" y="1549536"/>
            <a:ext cx="10716491" cy="4806813"/>
          </a:xfrm>
        </p:spPr>
        <p:txBody>
          <a:bodyPr>
            <a:normAutofit/>
          </a:bodyPr>
          <a:lstStyle/>
          <a:p>
            <a:r>
              <a:rPr lang="en-US" dirty="0" smtClean="0"/>
              <a:t>Two virtual interims to discuss the template </a:t>
            </a:r>
            <a:r>
              <a:rPr lang="en-US" dirty="0"/>
              <a:t>requirements collected at: </a:t>
            </a:r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github.com/netmod-wg/template-reqs/issues</a:t>
            </a:r>
            <a:endParaRPr lang="en-US" dirty="0" smtClean="0"/>
          </a:p>
          <a:p>
            <a:pPr lvl="1"/>
            <a:r>
              <a:rPr lang="en-US" dirty="0" smtClean="0"/>
              <a:t>Folks submit additional requirements even after the interims</a:t>
            </a:r>
            <a:endParaRPr lang="en-US" dirty="0"/>
          </a:p>
          <a:p>
            <a:endParaRPr lang="en-US" sz="800" dirty="0" smtClean="0"/>
          </a:p>
          <a:p>
            <a:r>
              <a:rPr lang="en-US" dirty="0" smtClean="0"/>
              <a:t>Submit as I-D.tt-</a:t>
            </a:r>
            <a:r>
              <a:rPr lang="en-US" dirty="0" err="1" smtClean="0"/>
              <a:t>netmod</a:t>
            </a:r>
            <a:r>
              <a:rPr lang="en-US" dirty="0" smtClean="0"/>
              <a:t>-yang-config-templates to document the outcomes of interims</a:t>
            </a:r>
          </a:p>
          <a:p>
            <a:endParaRPr lang="en-US" sz="800" dirty="0" smtClean="0"/>
          </a:p>
          <a:p>
            <a:r>
              <a:rPr lang="en-US" dirty="0" smtClean="0"/>
              <a:t>Solution Overview</a:t>
            </a:r>
          </a:p>
          <a:p>
            <a:pPr lvl="1"/>
            <a:r>
              <a:rPr lang="en-US" dirty="0" smtClean="0"/>
              <a:t>A </a:t>
            </a:r>
            <a:r>
              <a:rPr lang="en-US" b="1" dirty="0" smtClean="0"/>
              <a:t>Configuration Template </a:t>
            </a:r>
            <a:r>
              <a:rPr lang="en-US" dirty="0" smtClean="0"/>
              <a:t>is a fragment of configuration in &lt;running&gt;</a:t>
            </a:r>
          </a:p>
          <a:p>
            <a:pPr lvl="1"/>
            <a:r>
              <a:rPr lang="en-US" dirty="0" smtClean="0"/>
              <a:t>A node in &lt;running&gt; can </a:t>
            </a:r>
            <a:r>
              <a:rPr lang="en-US" b="1" dirty="0" smtClean="0"/>
              <a:t>apply</a:t>
            </a:r>
            <a:r>
              <a:rPr lang="en-US" dirty="0" smtClean="0"/>
              <a:t> a template to expand its configuration in &lt;intended&gt;</a:t>
            </a:r>
          </a:p>
          <a:p>
            <a:pPr lvl="1"/>
            <a:r>
              <a:rPr lang="en-US" dirty="0" smtClean="0"/>
              <a:t>Config from templates can be </a:t>
            </a:r>
            <a:r>
              <a:rPr lang="en-US" b="1" dirty="0" smtClean="0"/>
              <a:t>overridden</a:t>
            </a:r>
            <a:r>
              <a:rPr lang="en-US" dirty="0" smtClean="0"/>
              <a:t> by explicitly provided regular config</a:t>
            </a:r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2319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22C2FE9-3638-09C5-9816-DD1F4C1B9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EBF1D3F-D4B1-154A-2F6C-48C9D6443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558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Changes in -02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A1258EC-E496-66DC-75C5-308B75C76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4432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New Section 4.5: Deletion of templates</a:t>
            </a:r>
          </a:p>
          <a:p>
            <a:r>
              <a:rPr lang="en-US" dirty="0"/>
              <a:t>New Section 8: Operational considerations</a:t>
            </a:r>
          </a:p>
          <a:p>
            <a:r>
              <a:rPr lang="en-US" dirty="0"/>
              <a:t>New Appendix A: Requirements implementation </a:t>
            </a:r>
            <a:r>
              <a:rPr lang="en-US" dirty="0" smtClean="0"/>
              <a:t>status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 smtClean="0"/>
              <a:t>Top</a:t>
            </a:r>
            <a:r>
              <a:rPr lang="en-US" b="1" dirty="0" smtClean="0"/>
              <a:t>-priority open issues:</a:t>
            </a:r>
            <a:endParaRPr lang="en-US" b="1" dirty="0"/>
          </a:p>
          <a:p>
            <a:r>
              <a:rPr lang="en-US" dirty="0"/>
              <a:t>MUST template be valid when defined</a:t>
            </a:r>
            <a:r>
              <a:rPr lang="en-US" dirty="0" smtClean="0"/>
              <a:t>?</a:t>
            </a:r>
            <a:endParaRPr lang="en-US" dirty="0" smtClean="0"/>
          </a:p>
          <a:p>
            <a:r>
              <a:rPr lang="en-US" dirty="0" smtClean="0"/>
              <a:t>How </a:t>
            </a:r>
            <a:r>
              <a:rPr lang="en-US" dirty="0"/>
              <a:t>to model the contents of a </a:t>
            </a:r>
            <a:r>
              <a:rPr lang="en-US" dirty="0" smtClean="0"/>
              <a:t>template?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EE13A6B-CD5C-2B6B-7266-342C4EAFD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86BAA-A4D4-D948-A50D-301A6C830E12}" type="slidenum">
              <a:rPr lang="en-US" smtClean="0"/>
              <a:t>3</a:t>
            </a:fld>
            <a:endParaRPr lang="en-US"/>
          </a:p>
        </p:txBody>
      </p:sp>
      <p:sp>
        <p:nvSpPr>
          <p:cNvPr id="6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 smtClean="0"/>
              <a:t>IETF125 </a:t>
            </a:r>
            <a:r>
              <a:rPr lang="en-US" dirty="0"/>
              <a:t>NETMOD Hybrid Meeting</a:t>
            </a:r>
          </a:p>
        </p:txBody>
      </p:sp>
    </p:spTree>
    <p:extLst>
      <p:ext uri="{BB962C8B-B14F-4D97-AF65-F5344CB8AC3E}">
        <p14:creationId xmlns:p14="http://schemas.microsoft.com/office/powerpoint/2010/main" val="3040949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20486" y="0"/>
            <a:ext cx="11478490" cy="790344"/>
          </a:xfrm>
        </p:spPr>
        <p:txBody>
          <a:bodyPr>
            <a:normAutofit/>
          </a:bodyPr>
          <a:lstStyle/>
          <a:p>
            <a:pPr algn="ctr"/>
            <a:r>
              <a:rPr lang="en-US" altLang="zh-CN" sz="3600" b="1" dirty="0" smtClean="0"/>
              <a:t>Requirement </a:t>
            </a:r>
            <a:r>
              <a:rPr lang="en-US" altLang="zh-CN" sz="3600" b="1" dirty="0" smtClean="0"/>
              <a:t>Implementation Status</a:t>
            </a:r>
            <a:endParaRPr lang="en-US" sz="3600" b="1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 smtClean="0"/>
              <a:t>IETF125 </a:t>
            </a:r>
            <a:r>
              <a:rPr lang="en-US" dirty="0"/>
              <a:t>NETMOD Hybrid Meeting</a:t>
            </a: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76893"/>
              </p:ext>
            </p:extLst>
          </p:nvPr>
        </p:nvGraphicFramePr>
        <p:xfrm>
          <a:off x="66501" y="794499"/>
          <a:ext cx="6093230" cy="5406996"/>
        </p:xfrm>
        <a:graphic>
          <a:graphicData uri="http://schemas.openxmlformats.org/drawingml/2006/table">
            <a:tbl>
              <a:tblPr/>
              <a:tblGrid>
                <a:gridCol w="3084022"/>
                <a:gridCol w="615142"/>
                <a:gridCol w="2394066"/>
              </a:tblGrid>
              <a:tr h="322387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Requirement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Fulfilled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 smtClean="0">
                          <a:effectLst/>
                        </a:rPr>
                        <a:t>Description</a:t>
                      </a:r>
                      <a:endParaRPr lang="en-US" sz="1200" b="1" dirty="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0741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R1: Allowed Multiple templates to be applied at a single node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see </a:t>
                      </a:r>
                      <a:r>
                        <a:rPr lang="en-US" sz="1200" u="sng" dirty="0">
                          <a:solidFill>
                            <a:srgbClr val="0D6EFD"/>
                          </a:solidFill>
                          <a:effectLst/>
                          <a:hlinkClick r:id="rId2"/>
                        </a:rPr>
                        <a:t>Section 4.2</a:t>
                      </a:r>
                      <a:endParaRPr lang="en-US" sz="1200" dirty="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0741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R2: Templates must work with any YANG module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see </a:t>
                      </a:r>
                      <a:r>
                        <a:rPr lang="en-US" sz="1200" u="sng" dirty="0">
                          <a:solidFill>
                            <a:srgbClr val="0D6EFD"/>
                          </a:solidFill>
                          <a:effectLst/>
                          <a:hlinkClick r:id="rId3"/>
                        </a:rPr>
                        <a:t>Section 4.1</a:t>
                      </a:r>
                      <a:endParaRPr lang="en-US" sz="1200" dirty="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0741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R3: Templates must be validated when defined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N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Needs further discussion, see Editor's note from </a:t>
                      </a:r>
                      <a:r>
                        <a:rPr lang="en-US" sz="1200" u="sng" dirty="0">
                          <a:solidFill>
                            <a:srgbClr val="0D6EFD"/>
                          </a:solidFill>
                          <a:effectLst/>
                          <a:hlinkClick r:id="rId3"/>
                        </a:rPr>
                        <a:t>Section 4.1</a:t>
                      </a:r>
                      <a:endParaRPr lang="en-US" sz="1200" dirty="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498302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R4: Local-config overrides template-config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see </a:t>
                      </a:r>
                      <a:r>
                        <a:rPr lang="en-US" sz="1200" u="sng">
                          <a:solidFill>
                            <a:srgbClr val="0D6EFD"/>
                          </a:solidFill>
                          <a:effectLst/>
                          <a:hlinkClick r:id="rId4"/>
                        </a:rPr>
                        <a:t>Section 4.3</a:t>
                      </a:r>
                      <a:endParaRPr lang="en-US" sz="120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2124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R5: Living template: modified template data gets expanded for all consumers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see </a:t>
                      </a:r>
                      <a:r>
                        <a:rPr lang="en-US" sz="1200" u="sng" dirty="0">
                          <a:solidFill>
                            <a:srgbClr val="0D6EFD"/>
                          </a:solidFill>
                          <a:effectLst/>
                          <a:hlinkClick r:id="rId5"/>
                        </a:rPr>
                        <a:t>Section 4.4</a:t>
                      </a:r>
                      <a:endParaRPr lang="en-US" sz="1200" dirty="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0741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R6: Support basic programmatic elements in templates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N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Seems to add some complexity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712124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R7: Allow a server to constrain which nodes can be templates consumer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See </a:t>
                      </a:r>
                      <a:r>
                        <a:rPr lang="en-US" sz="1200" u="sng">
                          <a:solidFill>
                            <a:srgbClr val="0D6EFD"/>
                          </a:solidFill>
                          <a:effectLst/>
                          <a:hlinkClick r:id="rId6"/>
                        </a:rPr>
                        <a:t>Section 8</a:t>
                      </a:r>
                      <a:endParaRPr lang="en-US" sz="120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9095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R8: Configuration with both expanded and unexpanded templates is able to be returned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see </a:t>
                      </a:r>
                      <a:r>
                        <a:rPr lang="en-US" sz="1200" u="sng" dirty="0">
                          <a:solidFill>
                            <a:srgbClr val="0D6EFD"/>
                          </a:solidFill>
                          <a:effectLst/>
                          <a:hlinkClick r:id="rId7"/>
                        </a:rPr>
                        <a:t>Section 5</a:t>
                      </a:r>
                      <a:r>
                        <a:rPr lang="en-US" sz="1200" dirty="0">
                          <a:effectLst/>
                        </a:rPr>
                        <a:t> and </a:t>
                      </a:r>
                      <a:r>
                        <a:rPr lang="en-US" sz="1200" u="sng" dirty="0">
                          <a:solidFill>
                            <a:srgbClr val="0D6EFD"/>
                          </a:solidFill>
                          <a:effectLst/>
                          <a:hlinkClick r:id="rId6"/>
                        </a:rPr>
                        <a:t>Section 8</a:t>
                      </a:r>
                      <a:endParaRPr lang="en-US" sz="1200" dirty="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849145"/>
              </p:ext>
            </p:extLst>
          </p:nvPr>
        </p:nvGraphicFramePr>
        <p:xfrm>
          <a:off x="6342611" y="790344"/>
          <a:ext cx="5774574" cy="5406996"/>
        </p:xfrm>
        <a:graphic>
          <a:graphicData uri="http://schemas.openxmlformats.org/drawingml/2006/table">
            <a:tbl>
              <a:tblPr/>
              <a:tblGrid>
                <a:gridCol w="2527068"/>
                <a:gridCol w="640080"/>
                <a:gridCol w="2607426"/>
              </a:tblGrid>
              <a:tr h="273518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Requirement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Fulfilled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 smtClean="0">
                          <a:effectLst/>
                        </a:rPr>
                        <a:t>Description</a:t>
                      </a:r>
                      <a:endParaRPr lang="en-US" sz="1200" b="1" dirty="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0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R9: &lt;running&gt; contains the unexpanded template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see </a:t>
                      </a:r>
                      <a:r>
                        <a:rPr lang="en-US" sz="1200" u="sng" dirty="0">
                          <a:solidFill>
                            <a:srgbClr val="0D6EFD"/>
                          </a:solidFill>
                          <a:effectLst/>
                          <a:hlinkClick r:id="rId7"/>
                        </a:rPr>
                        <a:t>Section 5</a:t>
                      </a:r>
                      <a:r>
                        <a:rPr lang="en-US" sz="1200" dirty="0">
                          <a:effectLst/>
                        </a:rPr>
                        <a:t>, also stated explicitly in </a:t>
                      </a:r>
                      <a:r>
                        <a:rPr lang="en-US" sz="1200" u="sng" dirty="0">
                          <a:solidFill>
                            <a:srgbClr val="0D6EFD"/>
                          </a:solidFill>
                          <a:effectLst/>
                          <a:hlinkClick r:id="rId6"/>
                        </a:rPr>
                        <a:t>Section 8</a:t>
                      </a:r>
                      <a:endParaRPr lang="en-US" sz="1200" dirty="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0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R10: &lt;intended&gt; contains the expanded template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see </a:t>
                      </a:r>
                      <a:r>
                        <a:rPr lang="en-US" sz="1200" u="sng">
                          <a:solidFill>
                            <a:srgbClr val="0D6EFD"/>
                          </a:solidFill>
                          <a:effectLst/>
                          <a:hlinkClick r:id="rId7"/>
                        </a:rPr>
                        <a:t>Section 5</a:t>
                      </a:r>
                      <a:r>
                        <a:rPr lang="en-US" sz="1200">
                          <a:effectLst/>
                        </a:rPr>
                        <a:t>, also stated explicitly in </a:t>
                      </a:r>
                      <a:r>
                        <a:rPr lang="en-US" sz="1200" u="sng">
                          <a:solidFill>
                            <a:srgbClr val="0D6EFD"/>
                          </a:solidFill>
                          <a:effectLst/>
                          <a:hlinkClick r:id="rId6"/>
                        </a:rPr>
                        <a:t>Section 8</a:t>
                      </a:r>
                      <a:endParaRPr lang="en-US" sz="120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09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R11: Enables off-box template expansion of &lt;running&gt;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see </a:t>
                      </a:r>
                      <a:r>
                        <a:rPr lang="en-US" sz="1200" u="sng">
                          <a:solidFill>
                            <a:srgbClr val="0D6EFD"/>
                          </a:solidFill>
                          <a:effectLst/>
                          <a:hlinkClick r:id="rId5"/>
                        </a:rPr>
                        <a:t>Section 4.4</a:t>
                      </a:r>
                      <a:endParaRPr lang="en-US" sz="120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2766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R12: Support limited regex in templates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But needs more work, see </a:t>
                      </a:r>
                      <a:r>
                        <a:rPr lang="en-US" sz="1200" u="sng">
                          <a:solidFill>
                            <a:srgbClr val="0D6EFD"/>
                          </a:solidFill>
                          <a:effectLst/>
                          <a:hlinkClick r:id="rId8"/>
                        </a:rPr>
                        <a:t>Section 4.1.1</a:t>
                      </a:r>
                      <a:endParaRPr lang="en-US" sz="120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9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R13: Have a precedence rule when multiple templates are applied at a single node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See </a:t>
                      </a:r>
                      <a:r>
                        <a:rPr lang="en-US" sz="1200" u="sng" dirty="0">
                          <a:solidFill>
                            <a:srgbClr val="0D6EFD"/>
                          </a:solidFill>
                          <a:effectLst/>
                          <a:hlinkClick r:id="rId5"/>
                        </a:rPr>
                        <a:t>Section 4.4</a:t>
                      </a:r>
                      <a:endParaRPr lang="en-US" sz="1200" dirty="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1900"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R14: The innermost template takes precedence when templates are applied at multiple ancestor nodes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Y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See </a:t>
                      </a:r>
                      <a:r>
                        <a:rPr lang="en-US" sz="1200" u="sng">
                          <a:solidFill>
                            <a:srgbClr val="0D6EFD"/>
                          </a:solidFill>
                          <a:effectLst/>
                          <a:hlinkClick r:id="rId5"/>
                        </a:rPr>
                        <a:t>Section 4.4</a:t>
                      </a:r>
                      <a:endParaRPr lang="en-US" sz="1200">
                        <a:effectLst/>
                      </a:endParaRP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0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R15: Enable non-NMDA servers to return the expanded data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N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have a dedicated section (</a:t>
                      </a:r>
                      <a:r>
                        <a:rPr lang="en-US" sz="1200" u="sng">
                          <a:solidFill>
                            <a:srgbClr val="0D6EFD"/>
                          </a:solidFill>
                          <a:effectLst/>
                          <a:hlinkClick r:id="rId9"/>
                        </a:rPr>
                        <a:t>Section 6</a:t>
                      </a:r>
                      <a:r>
                        <a:rPr lang="en-US" sz="1200">
                          <a:effectLst/>
                        </a:rPr>
                        <a:t>) for this, but empty now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604176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Not discussed: R16: exclude templates applied at ancestor nodes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N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Seems to add some complexity, needs further discussion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7119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Not discussed: R17: Annotations to determine which template a node was applied from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N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Needs further discussion</a:t>
                      </a:r>
                    </a:p>
                  </a:txBody>
                  <a:tcPr marL="30218" marR="30218" marT="15109" marB="15109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59652" y="6292691"/>
            <a:ext cx="116736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Notes</a:t>
            </a:r>
            <a:r>
              <a:rPr lang="en-US" sz="1100" dirty="0" smtClean="0"/>
              <a:t>: Requirements </a:t>
            </a:r>
            <a:r>
              <a:rPr lang="en-US" sz="1100" dirty="0"/>
              <a:t>that did not </a:t>
            </a:r>
            <a:r>
              <a:rPr lang="en-US" sz="1100" dirty="0" smtClean="0"/>
              <a:t>have consensus are not </a:t>
            </a:r>
            <a:r>
              <a:rPr lang="en-US" sz="1100" dirty="0"/>
              <a:t>included. Editorial </a:t>
            </a:r>
            <a:r>
              <a:rPr lang="en-US" sz="1100" dirty="0" smtClean="0"/>
              <a:t>requirements such </a:t>
            </a:r>
            <a:r>
              <a:rPr lang="en-US" sz="1100" dirty="0"/>
              <a:t>as adding examples, </a:t>
            </a:r>
            <a:r>
              <a:rPr lang="en-US" sz="1100" dirty="0" smtClean="0"/>
              <a:t>are also not included in this page. </a:t>
            </a:r>
            <a:endParaRPr lang="en-US" sz="1100" dirty="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xmlns="" id="{3EE13A6B-CD5C-2B6B-7266-342C4EAFD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dirty="0" smtClean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738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 smtClean="0"/>
              <a:t>Open Discussion: MUST template be valid when defined?</a:t>
            </a:r>
            <a:endParaRPr lang="en-US" sz="3600" b="1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915996" cy="46583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smtClean="0"/>
              <a:t>The current draft states:</a:t>
            </a:r>
          </a:p>
          <a:p>
            <a:r>
              <a:rPr lang="en-US" dirty="0" smtClean="0"/>
              <a:t>In </a:t>
            </a:r>
            <a:r>
              <a:rPr lang="en-US" dirty="0"/>
              <a:t>&lt;running&gt;:</a:t>
            </a:r>
          </a:p>
          <a:p>
            <a:pPr lvl="1"/>
            <a:r>
              <a:rPr lang="en-US" dirty="0"/>
              <a:t>Template content does not have to be fully valid</a:t>
            </a:r>
          </a:p>
          <a:p>
            <a:pPr lvl="2"/>
            <a:r>
              <a:rPr lang="en-US" dirty="0" smtClean="0"/>
              <a:t>e.g., </a:t>
            </a:r>
            <a:r>
              <a:rPr lang="en-US" dirty="0"/>
              <a:t>mandatory nodes can be missing</a:t>
            </a:r>
          </a:p>
          <a:p>
            <a:pPr lvl="1"/>
            <a:r>
              <a:rPr lang="en-US" dirty="0"/>
              <a:t>Where validation is possible (</a:t>
            </a:r>
            <a:r>
              <a:rPr lang="en-US" dirty="0" smtClean="0"/>
              <a:t>e.g., </a:t>
            </a:r>
            <a:r>
              <a:rPr lang="en-US" dirty="0"/>
              <a:t>range, pattern, length), the server SHOULD enforce these constraints in the template</a:t>
            </a:r>
          </a:p>
          <a:p>
            <a:r>
              <a:rPr lang="en-US" dirty="0"/>
              <a:t>The contents of &lt;intended&gt; (after template expansion) </a:t>
            </a:r>
            <a:r>
              <a:rPr lang="en-US" dirty="0" smtClean="0"/>
              <a:t>MUST always </a:t>
            </a:r>
            <a:r>
              <a:rPr lang="en-US" dirty="0"/>
              <a:t>be </a:t>
            </a:r>
            <a:r>
              <a:rPr lang="en-US" dirty="0" smtClean="0"/>
              <a:t>valid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 smtClean="0"/>
              <a:t>Is this acceptable? Or should we rely on </a:t>
            </a:r>
            <a:r>
              <a:rPr lang="en-US" altLang="zh-CN" dirty="0"/>
              <a:t>I-D. </a:t>
            </a:r>
            <a:r>
              <a:rPr lang="en-US" altLang="zh-CN" dirty="0" err="1" smtClean="0"/>
              <a:t>ietf</a:t>
            </a:r>
            <a:r>
              <a:rPr lang="en-US" altLang="zh-CN" dirty="0" smtClean="0"/>
              <a:t>-</a:t>
            </a:r>
            <a:r>
              <a:rPr lang="en-US" altLang="zh-CN" dirty="0" err="1" smtClean="0"/>
              <a:t>netmod</a:t>
            </a:r>
            <a:r>
              <a:rPr lang="en-US" altLang="zh-CN" dirty="0" smtClean="0"/>
              <a:t>-yang-anydata-validation?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 smtClean="0"/>
              <a:t>IETF125 </a:t>
            </a:r>
            <a:r>
              <a:rPr lang="en-US" dirty="0"/>
              <a:t>NETMOD Hybrid Meeting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EE13A6B-CD5C-2B6B-7266-342C4EAFD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dirty="0" smtClean="0"/>
              <a:t>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236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xmlns="" id="{D80B6DFA-761F-B6E1-D517-3039157B5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234471"/>
            <a:ext cx="11563351" cy="1104636"/>
          </a:xfrm>
        </p:spPr>
        <p:txBody>
          <a:bodyPr>
            <a:normAutofit/>
          </a:bodyPr>
          <a:lstStyle/>
          <a:p>
            <a:r>
              <a:rPr lang="en-US" sz="3600" b="1" dirty="0" smtClean="0"/>
              <a:t>Open Discussion: How </a:t>
            </a:r>
            <a:r>
              <a:rPr lang="en-US" sz="3600" b="1" dirty="0"/>
              <a:t>to model the contents of a </a:t>
            </a:r>
            <a:r>
              <a:rPr lang="en-US" sz="3600" b="1" dirty="0" smtClean="0"/>
              <a:t>template?</a:t>
            </a:r>
            <a:endParaRPr lang="en-US" sz="3600" b="1" dirty="0"/>
          </a:p>
        </p:txBody>
      </p:sp>
      <p:sp>
        <p:nvSpPr>
          <p:cNvPr id="5" name="Right Brace 6">
            <a:extLst>
              <a:ext uri="{FF2B5EF4-FFF2-40B4-BE49-F238E27FC236}">
                <a16:creationId xmlns:a16="http://schemas.microsoft.com/office/drawing/2014/main" xmlns="" id="{3634E080-1549-3C67-4550-991A658977DB}"/>
              </a:ext>
            </a:extLst>
          </p:cNvPr>
          <p:cNvSpPr/>
          <p:nvPr/>
        </p:nvSpPr>
        <p:spPr>
          <a:xfrm>
            <a:off x="3323039" y="2676214"/>
            <a:ext cx="438894" cy="1099840"/>
          </a:xfrm>
          <a:prstGeom prst="rightBrac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7">
            <a:extLst>
              <a:ext uri="{FF2B5EF4-FFF2-40B4-BE49-F238E27FC236}">
                <a16:creationId xmlns:a16="http://schemas.microsoft.com/office/drawing/2014/main" xmlns="" id="{5F87CB09-A569-6B46-73D4-AB440D7A7116}"/>
              </a:ext>
            </a:extLst>
          </p:cNvPr>
          <p:cNvSpPr txBox="1"/>
          <p:nvPr/>
        </p:nvSpPr>
        <p:spPr>
          <a:xfrm>
            <a:off x="3856724" y="2965201"/>
            <a:ext cx="53288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The template contains a fragment of config using the </a:t>
            </a:r>
            <a:r>
              <a:rPr lang="en-US" sz="1400" dirty="0" err="1">
                <a:solidFill>
                  <a:schemeClr val="accent6"/>
                </a:solidFill>
              </a:rPr>
              <a:t>ietf</a:t>
            </a:r>
            <a:r>
              <a:rPr lang="en-US" sz="1400" dirty="0">
                <a:solidFill>
                  <a:schemeClr val="accent6"/>
                </a:solidFill>
              </a:rPr>
              <a:t>-interfaces model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xmlns="" id="{FBA1AE89-E94F-C9A9-C732-44DD646AAA19}"/>
              </a:ext>
            </a:extLst>
          </p:cNvPr>
          <p:cNvSpPr txBox="1"/>
          <p:nvPr/>
        </p:nvSpPr>
        <p:spPr>
          <a:xfrm>
            <a:off x="628647" y="1470844"/>
            <a:ext cx="111338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Templates are defined in a list in the &lt;running&gt; datastore – for example: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xmlns="" id="{C2FB2C15-096E-C1D2-26F3-8B624429CD3B}"/>
              </a:ext>
            </a:extLst>
          </p:cNvPr>
          <p:cNvSpPr txBox="1"/>
          <p:nvPr/>
        </p:nvSpPr>
        <p:spPr>
          <a:xfrm>
            <a:off x="642610" y="4808746"/>
            <a:ext cx="9440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But what is the schema for the data inside &lt;content&gt;…&lt;/content&gt;?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xmlns="" id="{0820E31D-5357-142A-D690-7C24CC34E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610" y="1971913"/>
            <a:ext cx="5583623" cy="332504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﻿&lt;templates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xmlns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="..."&gt;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&lt;template&gt;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&lt;id&gt;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interface-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mtu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&lt;/id&gt;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&lt;content&gt;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&lt;interfaces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xmlns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="..."&gt;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 &lt;interface&gt;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  &lt;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mtu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1500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&lt;/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mtu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 &lt;/interface&gt;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&lt;/interfaces&gt;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&lt;/content&gt;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&lt;/template&gt;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&lt;/</a:t>
            </a:r>
            <a:r>
              <a:rPr lang="en-US" sz="1400" dirty="0" smtClean="0">
                <a:latin typeface="Consolas" panose="020B0609020204030204" pitchFamily="49" charset="0"/>
                <a:cs typeface="Consolas" panose="020B0609020204030204" pitchFamily="49" charset="0"/>
              </a:rPr>
              <a:t>templates&gt;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 smtClean="0"/>
              <a:t>IETF125 </a:t>
            </a:r>
            <a:r>
              <a:rPr lang="en-US" dirty="0"/>
              <a:t>NETMOD Hybrid Meeting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xmlns="" id="{3EE13A6B-CD5C-2B6B-7266-342C4EAFD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dirty="0" smtClean="0"/>
              <a:t>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2104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7D10B66-129F-92DD-1B83-29C617281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53EF5C8-D20D-D93F-BF2D-836C60979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Option 1: </a:t>
            </a:r>
            <a:r>
              <a:rPr lang="en-US" b="1" dirty="0" smtClean="0"/>
              <a:t>anydata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E4DBF42-685C-6692-8091-5843C97D3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the value of &lt;content&gt; as </a:t>
            </a:r>
            <a:r>
              <a:rPr lang="en-US" dirty="0" smtClean="0"/>
              <a:t>anydata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Problems:</a:t>
            </a:r>
          </a:p>
          <a:p>
            <a:r>
              <a:rPr lang="en-US" dirty="0"/>
              <a:t>N</a:t>
            </a:r>
            <a:r>
              <a:rPr lang="en-US" dirty="0" smtClean="0"/>
              <a:t>o </a:t>
            </a:r>
            <a:r>
              <a:rPr lang="en-US" dirty="0"/>
              <a:t>schema to declare what a valid template </a:t>
            </a:r>
            <a:r>
              <a:rPr lang="en-US" dirty="0" smtClean="0"/>
              <a:t>is</a:t>
            </a:r>
          </a:p>
          <a:p>
            <a:pPr lvl="1"/>
            <a:r>
              <a:rPr lang="en-US" dirty="0" smtClean="0"/>
              <a:t>Again, do we want to validate template at definition time?</a:t>
            </a:r>
            <a:endParaRPr lang="en-US" dirty="0"/>
          </a:p>
          <a:p>
            <a:r>
              <a:rPr lang="en-US" dirty="0"/>
              <a:t>Opaque data – not possible for the client to edit part of the </a:t>
            </a:r>
            <a:r>
              <a:rPr lang="en-US" dirty="0" smtClean="0"/>
              <a:t>template</a:t>
            </a:r>
          </a:p>
          <a:p>
            <a:pPr lvl="1"/>
            <a:r>
              <a:rPr lang="en-US" dirty="0" smtClean="0"/>
              <a:t>Can the “operation” attribute defined in 6241 be used to make changes/delta to the template?</a:t>
            </a:r>
            <a:endParaRPr lang="en-US" dirty="0" smtClean="0"/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8EDB6EA0-D8D0-F2F6-12B0-ADE7599F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86BAA-A4D4-D948-A50D-301A6C830E12}" type="slidenum">
              <a:rPr lang="en-US" smtClean="0"/>
              <a:t>7</a:t>
            </a:fld>
            <a:endParaRPr lang="en-US"/>
          </a:p>
        </p:txBody>
      </p:sp>
      <p:sp>
        <p:nvSpPr>
          <p:cNvPr id="6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 smtClean="0"/>
              <a:t>IETF125 </a:t>
            </a:r>
            <a:r>
              <a:rPr lang="en-US" dirty="0"/>
              <a:t>NETMOD Hybrid Meeting</a:t>
            </a:r>
          </a:p>
        </p:txBody>
      </p:sp>
    </p:spTree>
    <p:extLst>
      <p:ext uri="{BB962C8B-B14F-4D97-AF65-F5344CB8AC3E}">
        <p14:creationId xmlns:p14="http://schemas.microsoft.com/office/powerpoint/2010/main" val="1724440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2783EE-98E7-3F14-A842-34D7AA74A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C6D6565-3B97-CCF2-1B7A-819BFB0DD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Option 2: Automatically derive a schema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A9F4D2F-062E-3C06-747F-478BC35BC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600113" cy="4665662"/>
          </a:xfrm>
        </p:spPr>
        <p:txBody>
          <a:bodyPr>
            <a:normAutofit/>
          </a:bodyPr>
          <a:lstStyle/>
          <a:p>
            <a:r>
              <a:rPr lang="en-US" dirty="0"/>
              <a:t>Model &lt;content&gt; as a presence container</a:t>
            </a:r>
          </a:p>
          <a:p>
            <a:r>
              <a:rPr lang="en-US" dirty="0"/>
              <a:t>For each </a:t>
            </a:r>
            <a:r>
              <a:rPr lang="en-US" dirty="0" smtClean="0"/>
              <a:t>YANG</a:t>
            </a:r>
            <a:r>
              <a:rPr lang="en-US" dirty="0" smtClean="0"/>
              <a:t> </a:t>
            </a:r>
            <a:r>
              <a:rPr lang="en-US" dirty="0"/>
              <a:t>model that the server supports, derive a second “template model” that augments /templates/template/content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the server implements </a:t>
            </a:r>
            <a:r>
              <a:rPr lang="en-US" dirty="0" err="1"/>
              <a:t>ietf</a:t>
            </a:r>
            <a:r>
              <a:rPr lang="en-US" dirty="0"/>
              <a:t>-interfaces</a:t>
            </a:r>
          </a:p>
          <a:p>
            <a:pPr lvl="1"/>
            <a:r>
              <a:rPr lang="en-US" dirty="0"/>
              <a:t>the server derives a second model that augments /templates/template/content to provide the “interfaces” list</a:t>
            </a:r>
          </a:p>
          <a:p>
            <a:r>
              <a:rPr lang="en-US" dirty="0"/>
              <a:t>To a client, the template content is just another </a:t>
            </a:r>
            <a:r>
              <a:rPr lang="en-US" dirty="0" smtClean="0"/>
              <a:t>YANG </a:t>
            </a:r>
            <a:r>
              <a:rPr lang="en-US" dirty="0"/>
              <a:t>container whose contents is all the configuration that could live in that </a:t>
            </a:r>
            <a:r>
              <a:rPr lang="en-US" dirty="0" smtClean="0"/>
              <a:t>template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6B96791A-E6EC-88EA-E837-88D8FAE13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86BAA-A4D4-D948-A50D-301A6C830E12}" type="slidenum">
              <a:rPr lang="en-US" smtClean="0"/>
              <a:t>8</a:t>
            </a:fld>
            <a:endParaRPr lang="en-US"/>
          </a:p>
        </p:txBody>
      </p:sp>
      <p:sp>
        <p:nvSpPr>
          <p:cNvPr id="6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 smtClean="0"/>
              <a:t>IETF125 </a:t>
            </a:r>
            <a:r>
              <a:rPr lang="en-US" dirty="0"/>
              <a:t>NETMOD Hybrid Meeting</a:t>
            </a:r>
          </a:p>
        </p:txBody>
      </p:sp>
    </p:spTree>
    <p:extLst>
      <p:ext uri="{BB962C8B-B14F-4D97-AF65-F5344CB8AC3E}">
        <p14:creationId xmlns:p14="http://schemas.microsoft.com/office/powerpoint/2010/main" val="23385696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8240" y="2219514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Comments, Questions, Concerns?</a:t>
            </a:r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 smtClean="0"/>
              <a:t>IETF125 </a:t>
            </a:r>
            <a:r>
              <a:rPr lang="en-US" dirty="0"/>
              <a:t>NETMOD Hybrid Meeting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xmlns="" id="{3EE13A6B-CD5C-2B6B-7266-342C4EAFD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dirty="0" smtClean="0"/>
              <a:t>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236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123546</TotalTime>
  <Words>775</Words>
  <Application>Microsoft Office PowerPoint</Application>
  <PresentationFormat>宽屏</PresentationFormat>
  <Paragraphs>144</Paragraphs>
  <Slides>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5" baseType="lpstr">
      <vt:lpstr>宋体</vt:lpstr>
      <vt:lpstr>Arial</vt:lpstr>
      <vt:lpstr>Calibri</vt:lpstr>
      <vt:lpstr>Calibri Light</vt:lpstr>
      <vt:lpstr>Consolas</vt:lpstr>
      <vt:lpstr>Office 主题</vt:lpstr>
      <vt:lpstr>YANG Configuration Templates</vt:lpstr>
      <vt:lpstr>Recap</vt:lpstr>
      <vt:lpstr>Changes in -02</vt:lpstr>
      <vt:lpstr>Requirement Implementation Status</vt:lpstr>
      <vt:lpstr>Open Discussion: MUST template be valid when defined?</vt:lpstr>
      <vt:lpstr>Open Discussion: How to model the contents of a template?</vt:lpstr>
      <vt:lpstr>Option 1: anydata</vt:lpstr>
      <vt:lpstr>Option 2: Automatically derive a schema</vt:lpstr>
      <vt:lpstr>Comments, Questions, Concerns?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wangzitao</dc:creator>
  <cp:lastModifiedBy>maqiufang (A)</cp:lastModifiedBy>
  <cp:revision>747</cp:revision>
  <dcterms:created xsi:type="dcterms:W3CDTF">2019-12-16T06:06:45Z</dcterms:created>
  <dcterms:modified xsi:type="dcterms:W3CDTF">2026-03-10T07:38:51Z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(3)geL24IT5XEXVku5JPX+/hPiP1sP1UmMjA00NXoQlmTZdveAZ8o1EMNq67yw7+WEUWXLHC1fN
Ghsg47qmYxUVcCV3+YQEhaJKPcG5dP1wD5OOV4eNfWo1xBuwkgdCyhSHjmjvTfbGMV2i+CaN
XjzF/5XwKZQ0TWL/m+yI0dQqQFCv7KL/gQuSe63d/HwIkz1SN+/ckh7gTqN92CZatv/vE84A
2R1sHAgFIRTly8CyLM</vt:lpwstr>
  </property>
  <property fmtid="{D5CDD505-2E9C-101B-9397-08002B2CF9AE}" pid="3" name="_2015_ms_pID_7253431">
    <vt:lpwstr>b9vaQD/tEF63fBRJEeycBeobeO8rIfpklNISxU7cb4fk+EDaYZwllZ
1tLOfBUWPE1I/JDHj7qWq99VIsjGxCqWVhn+HfU2VWmT8R1IJJ8qTVViVJ3NcpIkmbBzrl9p
lQF30SeUrAwAbyBl1Z9zMH9utfVqVn/+51C27Wf3wZAxf76L5f3vZ1blf/rEUTyBbEIJJU0s
GP9yUdZUoxwv4NX45/AlXt1fGWG0WrbC4Ae/</vt:lpwstr>
  </property>
  <property fmtid="{D5CDD505-2E9C-101B-9397-08002B2CF9AE}" pid="4" name="_2015_ms_pID_7253432">
    <vt:lpwstr>9X+MlxlRDCk6JT2fH3It8Go=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1772248168</vt:lpwstr>
  </property>
</Properties>
</file>