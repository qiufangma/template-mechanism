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304" r:id="rId3"/>
    <p:sldId id="312" r:id="rId4"/>
    <p:sldId id="305" r:id="rId5"/>
    <p:sldId id="313" r:id="rId6"/>
    <p:sldId id="307" r:id="rId7"/>
    <p:sldId id="308" r:id="rId8"/>
    <p:sldId id="310" r:id="rId9"/>
    <p:sldId id="27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qiufang (A)" initials="m(" lastIdx="2" clrIdx="0">
    <p:extLst>
      <p:ext uri="{19B8F6BF-5375-455C-9EA6-DF929625EA0E}">
        <p15:presenceInfo xmlns:p15="http://schemas.microsoft.com/office/powerpoint/2012/main" userId="S-1-5-21-147214757-305610072-1517763936-66817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6424" autoAdjust="0"/>
  </p:normalViewPr>
  <p:slideViewPr>
    <p:cSldViewPr snapToGrid="0">
      <p:cViewPr varScale="1">
        <p:scale>
          <a:sx n="115" d="100"/>
          <a:sy n="115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37958-EF2B-4A94-85A4-43EA6C79221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639ED-4FBF-424E-9419-8783A67985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17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and issues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639ED-4FBF-424E-9419-8783A67985F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42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639ED-4FBF-424E-9419-8783A67985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56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3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0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30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43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91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413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49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75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43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86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2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83332-0ADC-44CE-A8C7-BB44D9873E2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2A26F-F772-4C7D-A4AB-F178FA838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01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tmod-wg/template-reqs/issu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tt-netmod-yang-config-templates-02#expand-templates" TargetMode="External"/><Relationship Id="rId13" Type="http://schemas.openxmlformats.org/officeDocument/2006/relationships/hyperlink" Target="https://datatracker.ietf.org/doc/html/draft-tt-netmod-yang-config-templates-02#interact-NMDA" TargetMode="External"/><Relationship Id="rId3" Type="http://schemas.openxmlformats.org/officeDocument/2006/relationships/hyperlink" Target="https://github.com/netmod-wg/template-reqs/issues/1" TargetMode="External"/><Relationship Id="rId7" Type="http://schemas.openxmlformats.org/officeDocument/2006/relationships/hyperlink" Target="https://github.com/netmod-wg/template-reqs/issues/6" TargetMode="External"/><Relationship Id="rId12" Type="http://schemas.openxmlformats.org/officeDocument/2006/relationships/hyperlink" Target="https://github.com/netmod-wg/template-reqs/issues/9" TargetMode="External"/><Relationship Id="rId2" Type="http://schemas.openxmlformats.org/officeDocument/2006/relationships/hyperlink" Target="https://datatracker.ietf.org/doc/html/draft-tt-netmod-yang-config-templates-02#inheriting-tem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tracker.ietf.org/doc/html/draft-tt-netmod-yang-config-templates-02#overriding-temp" TargetMode="External"/><Relationship Id="rId11" Type="http://schemas.openxmlformats.org/officeDocument/2006/relationships/hyperlink" Target="https://datatracker.ietf.org/doc/html/draft-tt-netmod-yang-config-templates-02#operational-consideration" TargetMode="External"/><Relationship Id="rId5" Type="http://schemas.openxmlformats.org/officeDocument/2006/relationships/hyperlink" Target="https://github.com/netmod-wg/template-reqs/issues/4" TargetMode="External"/><Relationship Id="rId10" Type="http://schemas.openxmlformats.org/officeDocument/2006/relationships/hyperlink" Target="https://github.com/netmod-wg/template-reqs/issues/8" TargetMode="External"/><Relationship Id="rId4" Type="http://schemas.openxmlformats.org/officeDocument/2006/relationships/hyperlink" Target="https://datatracker.ietf.org/doc/html/draft-tt-netmod-yang-config-templates-02#define-templates" TargetMode="External"/><Relationship Id="rId9" Type="http://schemas.openxmlformats.org/officeDocument/2006/relationships/hyperlink" Target="https://github.com/netmod-wg/template-reqs/issues/7" TargetMode="External"/><Relationship Id="rId14" Type="http://schemas.openxmlformats.org/officeDocument/2006/relationships/hyperlink" Target="https://github.com/netmod-wg/template-reqs/issues/10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tt-netmod-yang-config-templates-02#regex" TargetMode="External"/><Relationship Id="rId13" Type="http://schemas.openxmlformats.org/officeDocument/2006/relationships/hyperlink" Target="https://github.com/netmod-wg/template-reqs/issues/21" TargetMode="External"/><Relationship Id="rId3" Type="http://schemas.openxmlformats.org/officeDocument/2006/relationships/hyperlink" Target="https://datatracker.ietf.org/doc/html/draft-tt-netmod-yang-config-templates-02#operational-consideration" TargetMode="External"/><Relationship Id="rId7" Type="http://schemas.openxmlformats.org/officeDocument/2006/relationships/hyperlink" Target="https://github.com/netmod-wg/template-reqs/issues/14" TargetMode="External"/><Relationship Id="rId12" Type="http://schemas.openxmlformats.org/officeDocument/2006/relationships/hyperlink" Target="https://datatracker.ietf.org/doc/html/draft-tt-netmod-yang-config-templates-02#interact-non-NMDA" TargetMode="External"/><Relationship Id="rId2" Type="http://schemas.openxmlformats.org/officeDocument/2006/relationships/hyperlink" Target="https://datatracker.ietf.org/doc/html/draft-tt-netmod-yang-config-templates-02#interact-NMD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tracker.ietf.org/doc/html/draft-tt-netmod-yang-config-templates-02#expand-templates" TargetMode="External"/><Relationship Id="rId11" Type="http://schemas.openxmlformats.org/officeDocument/2006/relationships/hyperlink" Target="https://github.com/netmod-wg/template-reqs/issues/20" TargetMode="External"/><Relationship Id="rId5" Type="http://schemas.openxmlformats.org/officeDocument/2006/relationships/hyperlink" Target="https://github.com/netmod-wg/template-reqs/issues/13" TargetMode="External"/><Relationship Id="rId15" Type="http://schemas.openxmlformats.org/officeDocument/2006/relationships/hyperlink" Target="https://github.com/netmod-wg/template-reqs/issues/24" TargetMode="External"/><Relationship Id="rId10" Type="http://schemas.openxmlformats.org/officeDocument/2006/relationships/hyperlink" Target="https://github.com/netmod-wg/template-reqs/issues/19" TargetMode="External"/><Relationship Id="rId4" Type="http://schemas.openxmlformats.org/officeDocument/2006/relationships/hyperlink" Target="https://github.com/netmod-wg/template-reqs/issues/12" TargetMode="External"/><Relationship Id="rId9" Type="http://schemas.openxmlformats.org/officeDocument/2006/relationships/hyperlink" Target="https://github.com/netmod-wg/template-reqs/issues/18" TargetMode="External"/><Relationship Id="rId14" Type="http://schemas.openxmlformats.org/officeDocument/2006/relationships/hyperlink" Target="https://github.com/netmod-wg/template-reqs/issues/22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9408" y="539496"/>
            <a:ext cx="9857094" cy="1785250"/>
          </a:xfrm>
        </p:spPr>
        <p:txBody>
          <a:bodyPr>
            <a:normAutofit/>
          </a:bodyPr>
          <a:lstStyle/>
          <a:p>
            <a:r>
              <a:rPr lang="en-US" altLang="zh-CN" sz="5400" dirty="0"/>
              <a:t>YANG Configuration Templates</a:t>
            </a:r>
            <a:endParaRPr lang="zh-CN" altLang="en-US" sz="5400" dirty="0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3823C86-A1F6-45D9-9D7E-8B6ECB9CAA23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3003190" y="2811080"/>
            <a:ext cx="6461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draft-tt-netmod-yang-config-templates-02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513748" y="3840174"/>
            <a:ext cx="5213230" cy="981208"/>
          </a:xfrm>
        </p:spPr>
        <p:txBody>
          <a:bodyPr>
            <a:noAutofit/>
          </a:bodyPr>
          <a:lstStyle/>
          <a:p>
            <a:pPr>
              <a:lnSpc>
                <a:spcPts val="1800"/>
              </a:lnSpc>
            </a:pPr>
            <a:r>
              <a:rPr lang="en-US" sz="2000" dirty="0" smtClean="0"/>
              <a:t>Robert Wills (Cisco)</a:t>
            </a:r>
          </a:p>
          <a:p>
            <a:pPr>
              <a:lnSpc>
                <a:spcPts val="1800"/>
              </a:lnSpc>
            </a:pPr>
            <a:r>
              <a:rPr lang="en-US" sz="2000" dirty="0" smtClean="0"/>
              <a:t>Qiufang Ma (Huawei) </a:t>
            </a:r>
            <a:endParaRPr lang="en-US" sz="2000" b="1" dirty="0" smtClean="0"/>
          </a:p>
          <a:p>
            <a:pPr>
              <a:lnSpc>
                <a:spcPts val="1800"/>
              </a:lnSpc>
            </a:pPr>
            <a:r>
              <a:rPr lang="en-US" sz="2000" dirty="0"/>
              <a:t>Deepak Rajaram </a:t>
            </a:r>
            <a:r>
              <a:rPr lang="en-US" sz="2000" dirty="0" smtClean="0"/>
              <a:t>(Nokia)</a:t>
            </a:r>
            <a:endParaRPr lang="en-US" sz="2000" dirty="0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</p:spTree>
    <p:extLst>
      <p:ext uri="{BB962C8B-B14F-4D97-AF65-F5344CB8AC3E}">
        <p14:creationId xmlns:p14="http://schemas.microsoft.com/office/powerpoint/2010/main" val="104914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5227" y="216131"/>
            <a:ext cx="10515600" cy="877931"/>
          </a:xfrm>
        </p:spPr>
        <p:txBody>
          <a:bodyPr/>
          <a:lstStyle/>
          <a:p>
            <a:pPr algn="ctr"/>
            <a:r>
              <a:rPr lang="en-US" b="1" dirty="0"/>
              <a:t>Recap</a:t>
            </a: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199" y="1549536"/>
            <a:ext cx="10716491" cy="4806813"/>
          </a:xfrm>
        </p:spPr>
        <p:txBody>
          <a:bodyPr>
            <a:normAutofit/>
          </a:bodyPr>
          <a:lstStyle/>
          <a:p>
            <a:r>
              <a:rPr lang="en-US" dirty="0" smtClean="0"/>
              <a:t>Two virtual interims to discuss the template </a:t>
            </a:r>
            <a:r>
              <a:rPr lang="en-US" dirty="0"/>
              <a:t>requirements collected at: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github.com/netmod-wg/template-reqs/issues</a:t>
            </a:r>
            <a:endParaRPr lang="en-US" dirty="0" smtClean="0"/>
          </a:p>
          <a:p>
            <a:pPr lvl="1"/>
            <a:r>
              <a:rPr lang="en-US" dirty="0" smtClean="0"/>
              <a:t>Folks submit additional requirements even after the interims</a:t>
            </a:r>
            <a:endParaRPr lang="en-US" dirty="0"/>
          </a:p>
          <a:p>
            <a:endParaRPr lang="en-US" sz="800" dirty="0" smtClean="0"/>
          </a:p>
          <a:p>
            <a:r>
              <a:rPr lang="en-US" dirty="0" smtClean="0"/>
              <a:t>Submit as I-D.tt-</a:t>
            </a:r>
            <a:r>
              <a:rPr lang="en-US" dirty="0" err="1" smtClean="0"/>
              <a:t>netmod</a:t>
            </a:r>
            <a:r>
              <a:rPr lang="en-US" dirty="0" smtClean="0"/>
              <a:t>-yang-config-templates to document the outcomes of interims</a:t>
            </a:r>
          </a:p>
          <a:p>
            <a:endParaRPr lang="en-US" sz="800" dirty="0" smtClean="0"/>
          </a:p>
          <a:p>
            <a:r>
              <a:rPr lang="en-US" dirty="0" smtClean="0"/>
              <a:t>Solution Overview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Configuration Template </a:t>
            </a:r>
            <a:r>
              <a:rPr lang="en-US" dirty="0" smtClean="0"/>
              <a:t>is a fragment of configuration in &lt;running&gt;</a:t>
            </a:r>
          </a:p>
          <a:p>
            <a:pPr lvl="1"/>
            <a:r>
              <a:rPr lang="en-US" dirty="0" smtClean="0"/>
              <a:t>A node in &lt;running&gt; can </a:t>
            </a:r>
            <a:r>
              <a:rPr lang="en-US" b="1" dirty="0" smtClean="0"/>
              <a:t>apply</a:t>
            </a:r>
            <a:r>
              <a:rPr lang="en-US" dirty="0" smtClean="0"/>
              <a:t> a template to expand its configuration in &lt;intended&gt;</a:t>
            </a:r>
          </a:p>
          <a:p>
            <a:pPr lvl="1"/>
            <a:r>
              <a:rPr lang="en-US" dirty="0" smtClean="0"/>
              <a:t>Config from templates can be </a:t>
            </a:r>
            <a:r>
              <a:rPr lang="en-US" b="1" dirty="0" smtClean="0"/>
              <a:t>overridden</a:t>
            </a:r>
            <a:r>
              <a:rPr lang="en-US" dirty="0" smtClean="0"/>
              <a:t> by explicitly provided regular config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22C2FE9-3638-09C5-9816-DD1F4C1B9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BF1D3F-D4B1-154A-2F6C-48C9D644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5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Changes in -02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A1258EC-E496-66DC-75C5-308B75C76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43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New Section 4.5: Deletion of templates</a:t>
            </a:r>
          </a:p>
          <a:p>
            <a:r>
              <a:rPr lang="en-US" dirty="0"/>
              <a:t>New Section 8: Operational considerations</a:t>
            </a:r>
          </a:p>
          <a:p>
            <a:r>
              <a:rPr lang="en-US" dirty="0"/>
              <a:t>New Appendix A: Requirements implementation </a:t>
            </a:r>
            <a:r>
              <a:rPr lang="en-US" dirty="0" smtClean="0"/>
              <a:t>status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Top-priority open issues:</a:t>
            </a:r>
            <a:endParaRPr lang="en-US" b="1" dirty="0"/>
          </a:p>
          <a:p>
            <a:r>
              <a:rPr lang="en-US" dirty="0"/>
              <a:t>MUST template be valid when defined</a:t>
            </a:r>
            <a:r>
              <a:rPr lang="en-US" dirty="0" smtClean="0"/>
              <a:t>?</a:t>
            </a:r>
          </a:p>
          <a:p>
            <a:r>
              <a:rPr lang="en-US" dirty="0" smtClean="0"/>
              <a:t>How </a:t>
            </a:r>
            <a:r>
              <a:rPr lang="en-US" dirty="0"/>
              <a:t>to model the contents of a </a:t>
            </a:r>
            <a:r>
              <a:rPr lang="en-US" dirty="0" smtClean="0"/>
              <a:t>template?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EE13A6B-CD5C-2B6B-7266-342C4EAF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3</a:t>
            </a:fld>
            <a:endParaRPr 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</p:spTree>
    <p:extLst>
      <p:ext uri="{BB962C8B-B14F-4D97-AF65-F5344CB8AC3E}">
        <p14:creationId xmlns:p14="http://schemas.microsoft.com/office/powerpoint/2010/main" val="304094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0486" y="0"/>
            <a:ext cx="11478490" cy="790344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/>
              <a:t>Requirement Implementation Status</a:t>
            </a:r>
            <a:endParaRPr lang="en-US" sz="3600" b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018167"/>
              </p:ext>
            </p:extLst>
          </p:nvPr>
        </p:nvGraphicFramePr>
        <p:xfrm>
          <a:off x="538940" y="782666"/>
          <a:ext cx="10600115" cy="5368792"/>
        </p:xfrm>
        <a:graphic>
          <a:graphicData uri="http://schemas.openxmlformats.org/drawingml/2006/table">
            <a:tbl>
              <a:tblPr/>
              <a:tblGrid>
                <a:gridCol w="3851755"/>
                <a:gridCol w="768276"/>
                <a:gridCol w="2990042"/>
                <a:gridCol w="2990042"/>
              </a:tblGrid>
              <a:tr h="322927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Requirement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Fulfilled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effectLst/>
                        </a:rPr>
                        <a:t>Comments</a:t>
                      </a:r>
                      <a:r>
                        <a:rPr lang="en-US" sz="1400" b="1" baseline="0" dirty="0" smtClean="0">
                          <a:effectLst/>
                        </a:rPr>
                        <a:t> from authors</a:t>
                      </a:r>
                      <a:endParaRPr lang="en-US" sz="1400" b="1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effectLst/>
                        </a:rPr>
                        <a:t>Template-</a:t>
                      </a:r>
                      <a:r>
                        <a:rPr lang="en-US" sz="1400" b="1" dirty="0" err="1" smtClean="0">
                          <a:effectLst/>
                        </a:rPr>
                        <a:t>reqs</a:t>
                      </a:r>
                      <a:r>
                        <a:rPr lang="en-US" sz="1400" b="1" dirty="0" smtClean="0">
                          <a:effectLst/>
                        </a:rPr>
                        <a:t> Repo issue</a:t>
                      </a:r>
                      <a:endParaRPr lang="en-US" sz="1400" b="1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  <a:tr h="57631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R1: Allowed Multiple templates to be applied at a single node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2"/>
                        </a:rPr>
                        <a:t>Section 4.2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3"/>
                        </a:rPr>
                        <a:t>Requirement #1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  <a:tr h="57631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R2: Templates must work with any YANG module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4"/>
                        </a:rPr>
                        <a:t>Section 4.1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</a:rPr>
                        <a:t>Requirement #3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  <a:tr h="57631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R3: Templates must be validated when defined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N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Needs further discussion, see Editor's note from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4"/>
                        </a:rPr>
                        <a:t>Section 4.1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A58CA"/>
                          </a:solidFill>
                          <a:effectLst/>
                          <a:latin typeface="Inter"/>
                          <a:hlinkClick r:id="rId5"/>
                        </a:rPr>
                        <a:t>Requirement #4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</a:tr>
              <a:tr h="49450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R4: Local-config overrides template-config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see </a:t>
                      </a:r>
                      <a:r>
                        <a:rPr lang="en-US" sz="1200" u="sng">
                          <a:solidFill>
                            <a:srgbClr val="0D6EFD"/>
                          </a:solidFill>
                          <a:effectLst/>
                          <a:hlinkClick r:id="rId6"/>
                        </a:rPr>
                        <a:t>Section 4.3</a:t>
                      </a:r>
                      <a:endParaRPr lang="en-US" sz="120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7"/>
                        </a:rPr>
                        <a:t>Requirement #6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  <a:tr h="706697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R5: Living template: modified template data gets expanded for all consumers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8"/>
                        </a:rPr>
                        <a:t>Section 4.4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9"/>
                        </a:rPr>
                        <a:t>Requirement #7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  <a:tr h="57631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R6: Support basic programmatic elements in templates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N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Seems to add some complexity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10"/>
                        </a:rPr>
                        <a:t>Requirement #8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17000"/>
                      </a:schemeClr>
                    </a:solidFill>
                  </a:tcPr>
                </a:tc>
              </a:tr>
              <a:tr h="706697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R7: Allow a server to constrain which nodes can be templates consumer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11"/>
                        </a:rPr>
                        <a:t>Section 8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12"/>
                        </a:rPr>
                        <a:t>Requirement #9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  <a:tr h="832701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R8: Configuration with both expanded and unexpanded templates is able to be returned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13"/>
                        </a:rPr>
                        <a:t>Section 5</a:t>
                      </a:r>
                      <a:r>
                        <a:rPr lang="en-US" sz="1200" dirty="0">
                          <a:effectLst/>
                        </a:rPr>
                        <a:t> and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11"/>
                        </a:rPr>
                        <a:t>Section 8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14"/>
                        </a:rPr>
                        <a:t>Requirement #10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7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Slide Number Placeholder 4">
            <a:extLst>
              <a:ext uri="{FF2B5EF4-FFF2-40B4-BE49-F238E27FC236}">
                <a16:creationId xmlns="" xmlns:a16="http://schemas.microsoft.com/office/drawing/2014/main" id="{3EE13A6B-CD5C-2B6B-7266-342C4EAF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57931" y="6277302"/>
            <a:ext cx="11403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 smtClean="0"/>
              <a:t>Notes: Requirements that is “Mostly Opposed” in the polling have not been taken into account, nor have editorial requirements. 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210973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0486" y="0"/>
            <a:ext cx="11478490" cy="790344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/>
              <a:t>Requirement Implementation Status (cont.)</a:t>
            </a:r>
            <a:endParaRPr lang="en-US" sz="3600" b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9501"/>
              </p:ext>
            </p:extLst>
          </p:nvPr>
        </p:nvGraphicFramePr>
        <p:xfrm>
          <a:off x="582619" y="778193"/>
          <a:ext cx="10498247" cy="5511260"/>
        </p:xfrm>
        <a:graphic>
          <a:graphicData uri="http://schemas.openxmlformats.org/drawingml/2006/table">
            <a:tbl>
              <a:tblPr/>
              <a:tblGrid>
                <a:gridCol w="3362437"/>
                <a:gridCol w="851670"/>
                <a:gridCol w="3469356"/>
                <a:gridCol w="2814784"/>
              </a:tblGrid>
              <a:tr h="27879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Requirement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Fulfilled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effectLst/>
                        </a:rPr>
                        <a:t>Comments</a:t>
                      </a:r>
                      <a:r>
                        <a:rPr lang="en-US" sz="1400" b="1" baseline="0" dirty="0" smtClean="0">
                          <a:effectLst/>
                        </a:rPr>
                        <a:t> from authors</a:t>
                      </a:r>
                      <a:endParaRPr lang="en-US" sz="1400" b="1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effectLst/>
                        </a:rPr>
                        <a:t>Template-</a:t>
                      </a:r>
                      <a:r>
                        <a:rPr lang="en-US" sz="1400" b="1" dirty="0" err="1" smtClean="0">
                          <a:effectLst/>
                        </a:rPr>
                        <a:t>reqs</a:t>
                      </a:r>
                      <a:r>
                        <a:rPr lang="en-US" sz="1400" b="1" dirty="0" smtClean="0">
                          <a:effectLst/>
                        </a:rPr>
                        <a:t> Repo issue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21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R9: &lt;running&gt; contains the unexpanded template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2"/>
                        </a:rPr>
                        <a:t>Section 5</a:t>
                      </a:r>
                      <a:r>
                        <a:rPr lang="en-US" sz="1200" dirty="0">
                          <a:effectLst/>
                        </a:rPr>
                        <a:t>, also stated explicitly in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3"/>
                        </a:rPr>
                        <a:t>Section 8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4"/>
                        </a:rPr>
                        <a:t>Requirement #12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21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R10: &lt;intended&gt; contains the expanded template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see </a:t>
                      </a:r>
                      <a:r>
                        <a:rPr lang="en-US" sz="1200" u="sng">
                          <a:solidFill>
                            <a:srgbClr val="0D6EFD"/>
                          </a:solidFill>
                          <a:effectLst/>
                          <a:hlinkClick r:id="rId2"/>
                        </a:rPr>
                        <a:t>Section 5</a:t>
                      </a:r>
                      <a:r>
                        <a:rPr lang="en-US" sz="1200">
                          <a:effectLst/>
                        </a:rPr>
                        <a:t>, also stated explicitly in </a:t>
                      </a:r>
                      <a:r>
                        <a:rPr lang="en-US" sz="1200" u="sng">
                          <a:solidFill>
                            <a:srgbClr val="0D6EFD"/>
                          </a:solidFill>
                          <a:effectLst/>
                          <a:hlinkClick r:id="rId3"/>
                        </a:rPr>
                        <a:t>Section 8</a:t>
                      </a:r>
                      <a:endParaRPr lang="en-US" sz="120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5"/>
                        </a:rPr>
                        <a:t>Requirement #13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21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R11: Enables off-box template expansion of &lt;running&gt;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see </a:t>
                      </a:r>
                      <a:r>
                        <a:rPr lang="en-US" sz="1200" u="sng">
                          <a:solidFill>
                            <a:srgbClr val="0D6EFD"/>
                          </a:solidFill>
                          <a:effectLst/>
                          <a:hlinkClick r:id="rId6"/>
                        </a:rPr>
                        <a:t>Section 4.4</a:t>
                      </a:r>
                      <a:endParaRPr lang="en-US" sz="120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7"/>
                        </a:rPr>
                        <a:t>Requirement #14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91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R12: Support limited regex in templates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But needs more work, see </a:t>
                      </a:r>
                      <a:r>
                        <a:rPr lang="en-US" sz="1200" u="sng">
                          <a:solidFill>
                            <a:srgbClr val="0D6EFD"/>
                          </a:solidFill>
                          <a:effectLst/>
                          <a:hlinkClick r:id="rId8"/>
                        </a:rPr>
                        <a:t>Section 4.1.1</a:t>
                      </a:r>
                      <a:endParaRPr lang="en-US" sz="120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9"/>
                        </a:rPr>
                        <a:t>Requirement #18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628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R13: Have a precedence rule when multiple templates are applied at a single node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 </a:t>
                      </a:r>
                      <a:r>
                        <a:rPr lang="en-US" sz="1200" u="sng" dirty="0">
                          <a:solidFill>
                            <a:srgbClr val="0D6EFD"/>
                          </a:solidFill>
                          <a:effectLst/>
                          <a:hlinkClick r:id="rId6"/>
                        </a:rPr>
                        <a:t>Section 4.4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10"/>
                        </a:rPr>
                        <a:t>Requirement #19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562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R14: The innermost template takes precedence when templates are applied at multiple ancestor nodes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Y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See </a:t>
                      </a:r>
                      <a:r>
                        <a:rPr lang="en-US" sz="1200" u="sng">
                          <a:solidFill>
                            <a:srgbClr val="0D6EFD"/>
                          </a:solidFill>
                          <a:effectLst/>
                          <a:hlinkClick r:id="rId6"/>
                        </a:rPr>
                        <a:t>Section 4.4</a:t>
                      </a:r>
                      <a:endParaRPr lang="en-US" sz="120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11"/>
                        </a:rPr>
                        <a:t>Requirement #20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21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R15: Enable non-NMDA servers to return the expanded data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N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have a dedicated section (</a:t>
                      </a:r>
                      <a:r>
                        <a:rPr lang="en-US" sz="1200" u="sng">
                          <a:solidFill>
                            <a:srgbClr val="0D6EFD"/>
                          </a:solidFill>
                          <a:effectLst/>
                          <a:hlinkClick r:id="rId12"/>
                        </a:rPr>
                        <a:t>Section 6</a:t>
                      </a:r>
                      <a:r>
                        <a:rPr lang="en-US" sz="1200">
                          <a:effectLst/>
                        </a:rPr>
                        <a:t>) for this, but empty now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sng" dirty="0" smtClean="0">
                          <a:solidFill>
                            <a:srgbClr val="0D6EFD"/>
                          </a:solidFill>
                          <a:effectLst/>
                          <a:latin typeface="Inter"/>
                          <a:hlinkClick r:id="rId13"/>
                        </a:rPr>
                        <a:t>Requirement #21</a:t>
                      </a:r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15826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</a:rPr>
                        <a:t>Not discussed</a:t>
                      </a:r>
                      <a:r>
                        <a:rPr lang="en-US" sz="1200" dirty="0">
                          <a:effectLst/>
                        </a:rPr>
                        <a:t>: R16: exclude templates applied at ancestor nodes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N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Seems to add some complexity, needs further discussion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D6EFD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  <a:hlinkClick r:id="rId14"/>
                        </a:rPr>
                        <a:t>Requirement #22</a:t>
                      </a:r>
                      <a:endParaRPr kumimoji="0" 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725628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C00000"/>
                          </a:solidFill>
                          <a:effectLst/>
                        </a:rPr>
                        <a:t>Not discussed</a:t>
                      </a:r>
                      <a:r>
                        <a:rPr lang="en-US" sz="1200" dirty="0">
                          <a:effectLst/>
                        </a:rPr>
                        <a:t>: R17: Annotations to determine which template a node was applied from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N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Needs further discussion</a:t>
                      </a: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D6EFD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  <a:hlinkClick r:id="rId15"/>
                        </a:rPr>
                        <a:t>Requirement</a:t>
                      </a:r>
                      <a:r>
                        <a:rPr kumimoji="0" lang="en-US" sz="1200" b="0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D6EFD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 #24</a:t>
                      </a:r>
                      <a:endParaRPr kumimoji="0" lang="en-US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sz="1200" dirty="0">
                        <a:effectLst/>
                      </a:endParaRPr>
                    </a:p>
                  </a:txBody>
                  <a:tcPr marL="30218" marR="30218" marT="15109" marB="15109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Slide Number Placeholder 4">
            <a:extLst>
              <a:ext uri="{FF2B5EF4-FFF2-40B4-BE49-F238E27FC236}">
                <a16:creationId xmlns="" xmlns:a16="http://schemas.microsoft.com/office/drawing/2014/main" id="{3EE13A6B-CD5C-2B6B-7266-342C4EAF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57931" y="6277302"/>
            <a:ext cx="11403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 smtClean="0"/>
              <a:t>Notes: Requirements that is “Mostly Opposed” in the polling have not been taken into account, nor have editorial requirements. 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17565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32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Open Discussion: MUST template be valid when defined?</a:t>
            </a:r>
            <a:endParaRPr 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7931"/>
            <a:ext cx="10957560" cy="51599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The show-of-hands poll at the interim shows a split opinion.</a:t>
            </a:r>
          </a:p>
          <a:p>
            <a:pPr lvl="1"/>
            <a:r>
              <a:rPr lang="en-US" dirty="0" smtClean="0"/>
              <a:t>Unsure if “no” because opposed to the entire idea or to doing it in a first release.</a:t>
            </a:r>
          </a:p>
          <a:p>
            <a:pPr marL="0" indent="0">
              <a:buNone/>
            </a:pPr>
            <a:endParaRPr lang="en-US" sz="900" dirty="0" smtClean="0"/>
          </a:p>
          <a:p>
            <a:pPr marL="0" indent="0">
              <a:buNone/>
            </a:pPr>
            <a:r>
              <a:rPr lang="en-US" dirty="0" smtClean="0"/>
              <a:t>The current draft states:</a:t>
            </a:r>
          </a:p>
          <a:p>
            <a:r>
              <a:rPr lang="en-US" i="1" dirty="0" smtClean="0"/>
              <a:t>At definition time:</a:t>
            </a:r>
            <a:endParaRPr lang="en-US" i="1" dirty="0"/>
          </a:p>
          <a:p>
            <a:pPr lvl="1"/>
            <a:r>
              <a:rPr lang="en-US" dirty="0"/>
              <a:t>Template content does not have to be fully valid</a:t>
            </a:r>
          </a:p>
          <a:p>
            <a:pPr lvl="2"/>
            <a:r>
              <a:rPr lang="en-US" dirty="0" smtClean="0"/>
              <a:t>e.g., </a:t>
            </a:r>
            <a:r>
              <a:rPr lang="en-US" dirty="0"/>
              <a:t>mandatory nodes can be missing</a:t>
            </a:r>
          </a:p>
          <a:p>
            <a:pPr lvl="1"/>
            <a:r>
              <a:rPr lang="en-US" dirty="0"/>
              <a:t>Where validation is possible (</a:t>
            </a:r>
            <a:r>
              <a:rPr lang="en-US" dirty="0" smtClean="0"/>
              <a:t>e.g., </a:t>
            </a:r>
            <a:r>
              <a:rPr lang="en-US" dirty="0"/>
              <a:t>range, pattern, length), the server SHOULD enforce these constraints in the template</a:t>
            </a:r>
          </a:p>
          <a:p>
            <a:r>
              <a:rPr lang="en-US" i="1" dirty="0" smtClean="0"/>
              <a:t>At expansion time: </a:t>
            </a:r>
          </a:p>
          <a:p>
            <a:pPr lvl="1"/>
            <a:r>
              <a:rPr lang="en-US" dirty="0" smtClean="0"/>
              <a:t>Config after template expansion MUST always </a:t>
            </a:r>
            <a:r>
              <a:rPr lang="en-US" dirty="0"/>
              <a:t>be </a:t>
            </a:r>
            <a:r>
              <a:rPr lang="en-US" dirty="0" smtClean="0"/>
              <a:t>valid.</a:t>
            </a:r>
          </a:p>
          <a:p>
            <a:endParaRPr lang="en-US" sz="900" dirty="0"/>
          </a:p>
          <a:p>
            <a:pPr marL="0" indent="0">
              <a:buNone/>
            </a:pPr>
            <a:r>
              <a:rPr lang="en-US" dirty="0" smtClean="0"/>
              <a:t>Is this acceptable?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EE13A6B-CD5C-2B6B-7266-342C4EAF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3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D80B6DFA-761F-B6E1-D517-3039157B5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34471"/>
            <a:ext cx="11563351" cy="1104636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Open Discussion: How </a:t>
            </a:r>
            <a:r>
              <a:rPr lang="en-US" sz="3600" b="1" dirty="0"/>
              <a:t>to model the contents of a </a:t>
            </a:r>
            <a:r>
              <a:rPr lang="en-US" sz="3600" b="1" dirty="0" smtClean="0"/>
              <a:t>template?</a:t>
            </a:r>
            <a:endParaRPr lang="en-US" sz="3600" b="1" dirty="0"/>
          </a:p>
        </p:txBody>
      </p:sp>
      <p:sp>
        <p:nvSpPr>
          <p:cNvPr id="5" name="Right Brace 6">
            <a:extLst>
              <a:ext uri="{FF2B5EF4-FFF2-40B4-BE49-F238E27FC236}">
                <a16:creationId xmlns="" xmlns:a16="http://schemas.microsoft.com/office/drawing/2014/main" id="{3634E080-1549-3C67-4550-991A658977DB}"/>
              </a:ext>
            </a:extLst>
          </p:cNvPr>
          <p:cNvSpPr/>
          <p:nvPr/>
        </p:nvSpPr>
        <p:spPr>
          <a:xfrm>
            <a:off x="8535118" y="2592124"/>
            <a:ext cx="241616" cy="1396073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7">
            <a:extLst>
              <a:ext uri="{FF2B5EF4-FFF2-40B4-BE49-F238E27FC236}">
                <a16:creationId xmlns="" xmlns:a16="http://schemas.microsoft.com/office/drawing/2014/main" id="{5F87CB09-A569-6B46-73D4-AB440D7A7116}"/>
              </a:ext>
            </a:extLst>
          </p:cNvPr>
          <p:cNvSpPr txBox="1"/>
          <p:nvPr/>
        </p:nvSpPr>
        <p:spPr>
          <a:xfrm>
            <a:off x="8828918" y="2881112"/>
            <a:ext cx="2933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The template contains a fragment of config using the </a:t>
            </a:r>
            <a:r>
              <a:rPr lang="en-US" sz="1400" dirty="0" err="1">
                <a:solidFill>
                  <a:schemeClr val="accent6"/>
                </a:solidFill>
              </a:rPr>
              <a:t>ietf</a:t>
            </a:r>
            <a:r>
              <a:rPr lang="en-US" sz="1400" dirty="0">
                <a:solidFill>
                  <a:schemeClr val="accent6"/>
                </a:solidFill>
              </a:rPr>
              <a:t>-interfaces model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="" xmlns:a16="http://schemas.microsoft.com/office/drawing/2014/main" id="{FBA1AE89-E94F-C9A9-C732-44DD646AAA19}"/>
              </a:ext>
            </a:extLst>
          </p:cNvPr>
          <p:cNvSpPr txBox="1"/>
          <p:nvPr/>
        </p:nvSpPr>
        <p:spPr>
          <a:xfrm>
            <a:off x="529069" y="1387126"/>
            <a:ext cx="1113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Template config is modeled as anydata in the current draft </a:t>
            </a:r>
            <a:endParaRPr lang="en-US" sz="2400" dirty="0"/>
          </a:p>
        </p:txBody>
      </p:sp>
      <p:sp>
        <p:nvSpPr>
          <p:cNvPr id="8" name="TextBox 5">
            <a:extLst>
              <a:ext uri="{FF2B5EF4-FFF2-40B4-BE49-F238E27FC236}">
                <a16:creationId xmlns="" xmlns:a16="http://schemas.microsoft.com/office/drawing/2014/main" id="{C2FB2C15-096E-C1D2-26F3-8B624429CD3B}"/>
              </a:ext>
            </a:extLst>
          </p:cNvPr>
          <p:cNvSpPr txBox="1"/>
          <p:nvPr/>
        </p:nvSpPr>
        <p:spPr>
          <a:xfrm>
            <a:off x="633844" y="4334290"/>
            <a:ext cx="11029086" cy="2369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Limitations of using anydata:</a:t>
            </a:r>
            <a:endParaRPr lang="en-US" sz="2400" dirty="0">
              <a:solidFill>
                <a:prstClr val="black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No schema to declare what a valid template is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Again, do we want to validate template at definition time?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Opaque data – not possible for the client to edit part of the </a:t>
            </a:r>
            <a:r>
              <a:rPr lang="en-US" sz="2400" dirty="0" smtClean="0">
                <a:solidFill>
                  <a:prstClr val="black"/>
                </a:solidFill>
              </a:rPr>
              <a:t>template 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See Sec.7.10.3 in 7950, </a:t>
            </a:r>
            <a:r>
              <a:rPr lang="en-US" sz="2000" dirty="0">
                <a:solidFill>
                  <a:prstClr val="black"/>
                </a:solidFill>
              </a:rPr>
              <a:t>a</a:t>
            </a:r>
            <a:r>
              <a:rPr lang="en-US" sz="2000" dirty="0" smtClean="0">
                <a:solidFill>
                  <a:prstClr val="black"/>
                </a:solidFill>
              </a:rPr>
              <a:t>ny </a:t>
            </a:r>
            <a:r>
              <a:rPr lang="en-US" sz="2000" dirty="0" smtClean="0">
                <a:solidFill>
                  <a:prstClr val="black"/>
                </a:solidFill>
              </a:rPr>
              <a:t>delta change to the template requires the client to send the entire template config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0820E31D-5357-142A-D690-7C24CC34E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307" y="1914524"/>
            <a:ext cx="5583623" cy="332504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﻿&lt;templates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&lt;template&gt;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&lt;id&gt;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interface-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id&gt;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&lt;content&gt;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&lt;interfaces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="..."&gt;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&lt;interface</a:t>
            </a:r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&lt;name&gt;eth*&lt;/name&gt;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 &lt;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1500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mtu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&lt;/interface&gt;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&lt;/interfaces&gt;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&lt;/content&gt;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&lt;/template&gt;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templates&gt;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="" xmlns:a16="http://schemas.microsoft.com/office/drawing/2014/main" id="{3EE13A6B-CD5C-2B6B-7266-342C4EAF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29069" y="2240758"/>
            <a:ext cx="4862945" cy="1449628"/>
            <a:chOff x="628647" y="2950153"/>
            <a:chExt cx="4862945" cy="1449628"/>
          </a:xfrm>
        </p:grpSpPr>
        <p:sp>
          <p:nvSpPr>
            <p:cNvPr id="13" name="圆角矩形 12"/>
            <p:cNvSpPr/>
            <p:nvPr/>
          </p:nvSpPr>
          <p:spPr>
            <a:xfrm>
              <a:off x="1413163" y="3988603"/>
              <a:ext cx="3381786" cy="18664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28647" y="2950153"/>
              <a:ext cx="4862945" cy="14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module: 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ietf</a:t>
              </a: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-config-template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+--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</a:t>
              </a: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templates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+--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</a:t>
              </a: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template* [id]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+--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</a:t>
              </a: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id               string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+--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</a:t>
              </a: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description?     string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+--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rw</a:t>
              </a: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content?         &lt;anydata&gt;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+--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ro</a:t>
              </a:r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last-modified?   </a:t>
              </a:r>
              <a:r>
                <a:rPr lang="en-US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yang:timestamp</a:t>
              </a:r>
              <a:endParaRPr lang="en-US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10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12783EE-98E7-3F14-A842-34D7AA74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6D6565-3B97-CCF2-1B7A-819BFB0D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Alternative Option: </a:t>
            </a:r>
            <a:r>
              <a:rPr lang="en-US" sz="3600" b="1" dirty="0"/>
              <a:t>Automatically derive a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9F4D2F-062E-3C06-747F-478BC35B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943" y="1358178"/>
            <a:ext cx="10791999" cy="4901305"/>
          </a:xfrm>
        </p:spPr>
        <p:txBody>
          <a:bodyPr>
            <a:normAutofit/>
          </a:bodyPr>
          <a:lstStyle/>
          <a:p>
            <a:r>
              <a:rPr lang="en-US" dirty="0"/>
              <a:t>Model &lt;content&gt; as a presence container</a:t>
            </a:r>
          </a:p>
          <a:p>
            <a:r>
              <a:rPr lang="en-US" dirty="0"/>
              <a:t>For each </a:t>
            </a:r>
            <a:r>
              <a:rPr lang="en-US" dirty="0" smtClean="0"/>
              <a:t>YANG </a:t>
            </a:r>
            <a:r>
              <a:rPr lang="en-US" dirty="0"/>
              <a:t>model that the server supports, derive a second </a:t>
            </a:r>
            <a:r>
              <a:rPr lang="en-US" dirty="0" smtClean="0"/>
              <a:t>“template </a:t>
            </a:r>
            <a:r>
              <a:rPr lang="en-US" dirty="0"/>
              <a:t>model” that augments /templates/template/content</a:t>
            </a:r>
          </a:p>
          <a:p>
            <a:endParaRPr lang="en-US" sz="800" dirty="0" smtClean="0"/>
          </a:p>
          <a:p>
            <a:r>
              <a:rPr lang="en-US" dirty="0" smtClean="0"/>
              <a:t>For </a:t>
            </a:r>
            <a:r>
              <a:rPr lang="en-US" dirty="0"/>
              <a:t>example:</a:t>
            </a:r>
          </a:p>
          <a:p>
            <a:pPr lvl="1"/>
            <a:r>
              <a:rPr lang="en-US" dirty="0"/>
              <a:t>the server implements </a:t>
            </a:r>
            <a:r>
              <a:rPr lang="en-US" dirty="0" err="1"/>
              <a:t>ietf</a:t>
            </a:r>
            <a:r>
              <a:rPr lang="en-US" dirty="0"/>
              <a:t>-interfaces</a:t>
            </a:r>
          </a:p>
          <a:p>
            <a:pPr lvl="1"/>
            <a:r>
              <a:rPr lang="en-US" dirty="0"/>
              <a:t>the server derives a second model </a:t>
            </a:r>
            <a:r>
              <a:rPr lang="en-US" dirty="0" smtClean="0"/>
              <a:t>that augments </a:t>
            </a:r>
            <a:r>
              <a:rPr lang="en-US" dirty="0"/>
              <a:t>/</a:t>
            </a:r>
            <a:r>
              <a:rPr lang="en-US" dirty="0" smtClean="0"/>
              <a:t>templates/template/content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a client, the template content is just another </a:t>
            </a:r>
            <a:r>
              <a:rPr lang="en-US" dirty="0" smtClean="0"/>
              <a:t>YANG </a:t>
            </a:r>
            <a:r>
              <a:rPr lang="en-US" dirty="0"/>
              <a:t>container whose contents is all the configuration that could live in that </a:t>
            </a:r>
            <a:r>
              <a:rPr lang="en-US" dirty="0" smtClean="0"/>
              <a:t>template</a:t>
            </a:r>
          </a:p>
          <a:p>
            <a:endParaRPr lang="en-US" sz="900" dirty="0" smtClean="0"/>
          </a:p>
          <a:p>
            <a:r>
              <a:rPr lang="en-US" dirty="0" smtClean="0"/>
              <a:t>Does the value of this option deserves such an implementation complexity?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B96791A-E6EC-88EA-E837-88D8FAE1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86BAA-A4D4-D948-A50D-301A6C830E12}" type="slidenum">
              <a:rPr lang="en-US" smtClean="0"/>
              <a:t>8</a:t>
            </a:fld>
            <a:endParaRPr 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</p:spTree>
    <p:extLst>
      <p:ext uri="{BB962C8B-B14F-4D97-AF65-F5344CB8AC3E}">
        <p14:creationId xmlns:p14="http://schemas.microsoft.com/office/powerpoint/2010/main" val="233856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240" y="221951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Comments, Questions, Concerns?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 smtClean="0"/>
              <a:t>IETF125 </a:t>
            </a:r>
            <a:r>
              <a:rPr lang="en-US" dirty="0"/>
              <a:t>NETMOD Hybrid Meeting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="" xmlns:a16="http://schemas.microsoft.com/office/drawing/2014/main" id="{3EE13A6B-CD5C-2B6B-7266-342C4EAF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 smtClean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3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124857</TotalTime>
  <Words>900</Words>
  <Application>Microsoft Office PowerPoint</Application>
  <PresentationFormat>宽屏</PresentationFormat>
  <Paragraphs>176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Inter</vt:lpstr>
      <vt:lpstr>宋体</vt:lpstr>
      <vt:lpstr>Arial</vt:lpstr>
      <vt:lpstr>Calibri</vt:lpstr>
      <vt:lpstr>Calibri Light</vt:lpstr>
      <vt:lpstr>Consolas</vt:lpstr>
      <vt:lpstr>Office 主题</vt:lpstr>
      <vt:lpstr>YANG Configuration Templates</vt:lpstr>
      <vt:lpstr>Recap</vt:lpstr>
      <vt:lpstr>Changes in -02</vt:lpstr>
      <vt:lpstr>Requirement Implementation Status</vt:lpstr>
      <vt:lpstr>Requirement Implementation Status (cont.)</vt:lpstr>
      <vt:lpstr>Open Discussion: MUST template be valid when defined?</vt:lpstr>
      <vt:lpstr>Open Discussion: How to model the contents of a template?</vt:lpstr>
      <vt:lpstr>Alternative Option: Automatically derive a schema</vt:lpstr>
      <vt:lpstr>Comments, Questions, Concerns?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wangzitao</dc:creator>
  <cp:lastModifiedBy>maqiufang (A)</cp:lastModifiedBy>
  <cp:revision>787</cp:revision>
  <dcterms:created xsi:type="dcterms:W3CDTF">2019-12-16T06:06:45Z</dcterms:created>
  <dcterms:modified xsi:type="dcterms:W3CDTF">2026-03-12T06:51:13Z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(3)geL24IT5XEXVku5JPX+/hPiP1sP1UmMjA00NXoQlmTZdveAZ8o1EMNq67yw7+WEUWXLHC1fN
Ghsg47qmYxUVcCV3+YQEhaJKPcG5dP1wD5OOV4eNfWo1xBuwkgdCyhSHjmjvTfbGMV2i+CaN
XjzF/5XwKZQ0TWL/m+yI0dQqQFCv7KL/gQuSe63d/HwIkz1SN+/ckh7gTqN92CZatv/vE84A
2R1sHAgFIRTly8CyLM</vt:lpwstr>
  </property>
  <property fmtid="{D5CDD505-2E9C-101B-9397-08002B2CF9AE}" pid="3" name="_2015_ms_pID_7253431">
    <vt:lpwstr>b9vaQD/tEF63fBRJEeycBeobeO8rIfpklNISxU7cb4fk+EDaYZwllZ
1tLOfBUWPE1I/JDHj7qWq99VIsjGxCqWVhn+HfU2VWmT8R1IJJ8qTVViVJ3NcpIkmbBzrl9p
lQF30SeUrAwAbyBl1Z9zMH9utfVqVn/+51C27Wf3wZAxf76L5f3vZ1blf/rEUTyBbEIJJU0s
GP9yUdZUoxwv4NX45/AlXt1fGWG0WrbC4Ae/</vt:lpwstr>
  </property>
  <property fmtid="{D5CDD505-2E9C-101B-9397-08002B2CF9AE}" pid="4" name="_2015_ms_pID_7253432">
    <vt:lpwstr>9X+MlxlRDCk6JT2fH3It8Go=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1772248168</vt:lpwstr>
  </property>
</Properties>
</file>