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62" r:id="rId3"/>
    <p:sldId id="263" r:id="rId4"/>
    <p:sldId id="264" r:id="rId5"/>
    <p:sldId id="280" r:id="rId6"/>
    <p:sldId id="292" r:id="rId7"/>
    <p:sldId id="288" r:id="rId8"/>
    <p:sldId id="289" r:id="rId9"/>
    <p:sldId id="291" r:id="rId10"/>
    <p:sldId id="295" r:id="rId11"/>
    <p:sldId id="294" r:id="rId12"/>
    <p:sldId id="293" r:id="rId13"/>
    <p:sldId id="287" r:id="rId14"/>
    <p:sldId id="285" r:id="rId15"/>
    <p:sldId id="266" r:id="rId16"/>
    <p:sldId id="279" r:id="rId17"/>
    <p:sldId id="278" r:id="rId18"/>
    <p:sldId id="277" r:id="rId19"/>
    <p:sldId id="286" r:id="rId20"/>
    <p:sldId id="276" r:id="rId21"/>
    <p:sldId id="265" r:id="rId22"/>
    <p:sldId id="267" r:id="rId23"/>
    <p:sldId id="270" r:id="rId24"/>
    <p:sldId id="271" r:id="rId25"/>
    <p:sldId id="272" r:id="rId26"/>
    <p:sldId id="273" r:id="rId27"/>
    <p:sldId id="274" r:id="rId28"/>
    <p:sldId id="284" r:id="rId29"/>
    <p:sldId id="282" r:id="rId3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/>
    <p:restoredTop sz="94694"/>
  </p:normalViewPr>
  <p:slideViewPr>
    <p:cSldViewPr snapToGrid="0">
      <p:cViewPr varScale="1">
        <p:scale>
          <a:sx n="130" d="100"/>
          <a:sy n="130" d="100"/>
        </p:scale>
        <p:origin x="10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7A69D-1A44-1743-BCE9-F3D225514B3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71CD2-02D1-4745-8C5C-7063820B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07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14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21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28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36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42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250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857" algn="l" defTabSz="71321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23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D8A577-D59E-A74A-D98B-FA13AF2A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9E54664-367C-1A00-AB01-FEC5F18BA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0B4202B-FB17-B6D7-D524-091A1C00B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BF934E6-E28A-5E60-D51E-D6A78C044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5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042B90-885E-F366-28CA-CF6E92FE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8A512A1-1645-6519-0A14-5C6C83D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7E3A5C4-2A19-AE47-0053-EB6A21F0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2F0ECC-985D-FA26-F87B-A4A73A97C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07B3DF-C7FF-08C9-E776-291874D6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A2F7037-B1CF-7D2D-9612-6F68CEF7C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332E827-F360-0701-DA97-724E10044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87F13B-BBC9-84C8-0FDF-BEF2E1A0C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3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512C70-2753-9C42-F0E1-09440ECE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E851D4E-C0DE-8563-78DF-FEF896DCD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89D86F5-75B2-0EAC-E9E2-357B9F1F2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4223E5-BBE6-F3C6-BFCD-F32BAD956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64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6983D3-FD53-ED4B-2689-A5C43B22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83A6574-726F-3BD2-4536-A31F302B0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DF3B04E-6802-539A-8F98-E1EB7739B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919CAE0-3364-B6AB-51EE-762E50148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21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A05F71-3243-A5DD-9736-1148EF95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C08411-09AA-C62B-CE9F-79D8EF8F2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007242B-239E-2588-BEEF-144665E1B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9588D88-9D64-C935-D59A-3E2C9DCEF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4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C3C9D4-3F59-BF13-0D92-CB70C8C6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5DC7E94-1FAF-E63F-9A40-09758008D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BEDE7E0-9529-0358-5D0C-85425E0DC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D4F227-97D6-7167-DDC0-BA8E7C6B4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04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C7BD43-2229-71E7-4DE3-C299A8CA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B409FE5-7CE4-721F-DF9A-48C023E5C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26CF8D9-0F11-152E-926E-7921B4324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A7AE3F-5B7A-B17A-08E2-7518DFBC0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14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E472AC-E87D-A921-4F5A-F09367F1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83E7C9A-7242-6671-3555-8CB947DE5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49C8079-0134-41E8-BA41-D4DBB48CE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3CA922-58F3-0E80-3319-B681A7FA5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3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E918A2-A4BC-8A5C-52DD-8584B949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C01F6AB-CDA6-58E2-C47B-7649A53F5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15A0E3C-13BB-E209-1F9D-D483852F2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9B0AAB-10B5-D92A-71D5-5956CD71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71CD2-02D1-4745-8C5C-7063820B1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05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62FC-675F-AD4B-A76A-78AF04F86EB8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83DA-B64A-6848-9D83-96CD425A0CBD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1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67E85-D3DD-5544-802A-2D3BA7177C8F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3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A7D1-282D-DC4E-AE18-5B95FF1265ED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0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8AD5-5F55-3B4B-A18B-A61043FE2EDF}" type="datetime1">
              <a:rPr lang="en-GB" smtClean="0"/>
              <a:t>10/03/2026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8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A8B4-06A2-424D-BC42-111183577449}" type="datetime1">
              <a:rPr lang="en-GB" smtClean="0"/>
              <a:t>10/03/2026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F7DFF-5055-6043-BFA9-86EF958B8183}" type="datetime1">
              <a:rPr lang="en-GB" smtClean="0"/>
              <a:t>10/03/2026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0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07E9-685C-7D4E-9433-73C7B5D80D6F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7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20D2-DD5D-E842-86F4-5856DA9BEB4C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2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675C-177B-A841-B898-8E5840DDF707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4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53FA-FC14-A841-A12A-8D23EC36A374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6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A4589-D859-0A46-95F6-3A815FCDD69E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IETF 125 Shenzhen – YANG Configuration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86BAA-A4D4-D948-A50D-301A6C830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8E8F2D-EE89-5FB8-0636-AE7A2EE74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75769"/>
            <a:ext cx="8229600" cy="117964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YANG Configuration Templates</a:t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100" dirty="0">
                <a:solidFill>
                  <a:srgbClr val="0070C0"/>
                </a:solidFill>
              </a:rPr>
              <a:t>draft-tt-netmod-yang-config-templates-02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A1E8545-D2E6-4BAA-CE4C-60BB368E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50472"/>
            <a:ext cx="6858000" cy="1631647"/>
          </a:xfrm>
        </p:spPr>
        <p:txBody>
          <a:bodyPr>
            <a:normAutofit fontScale="85000" lnSpcReduction="20000"/>
          </a:bodyPr>
          <a:lstStyle/>
          <a:p>
            <a:endParaRPr lang="en-US" sz="2000" b="1" dirty="0"/>
          </a:p>
          <a:p>
            <a:r>
              <a:rPr lang="en-US" sz="2000" b="1" dirty="0"/>
              <a:t>Templates Team</a:t>
            </a:r>
          </a:p>
          <a:p>
            <a:endParaRPr lang="en-US" dirty="0"/>
          </a:p>
          <a:p>
            <a:r>
              <a:rPr lang="en-US" dirty="0" err="1"/>
              <a:t>Qiufang</a:t>
            </a:r>
            <a:r>
              <a:rPr lang="en-US" dirty="0"/>
              <a:t> Ma, Huawei</a:t>
            </a:r>
          </a:p>
          <a:p>
            <a:r>
              <a:rPr lang="en-US" dirty="0"/>
              <a:t>Deepak Rajaram, Nokia</a:t>
            </a:r>
          </a:p>
          <a:p>
            <a:r>
              <a:rPr lang="en-US" dirty="0"/>
              <a:t>Robert Wills, Cisco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231D19F-CA3B-FFD9-835E-617FD6EE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125 Shenzhen – YANG Configuration Templates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F347D33-A2FB-F66E-4C6A-D9366350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8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52C900-7E09-5941-C664-55BF3EB0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72F33-E268-679D-A115-51B603AE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262F0C-D90F-7831-FA2E-0618A1E8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Datastores often contain multiple subtrees of identical/similar config</a:t>
            </a:r>
          </a:p>
          <a:p>
            <a:pPr lvl="1"/>
            <a:r>
              <a:rPr lang="en-US" dirty="0"/>
              <a:t>For example: multiple interfaces with similar config</a:t>
            </a:r>
          </a:p>
          <a:p>
            <a:r>
              <a:rPr lang="en-US" dirty="0"/>
              <a:t>Currently, the client has to repeatedly configure the same nodes in each subtree</a:t>
            </a:r>
          </a:p>
          <a:p>
            <a:pPr lvl="1"/>
            <a:r>
              <a:rPr lang="en-US" dirty="0"/>
              <a:t>Complex and error-prone</a:t>
            </a:r>
          </a:p>
          <a:p>
            <a:pPr lvl="1"/>
            <a:r>
              <a:rPr lang="en-US" dirty="0"/>
              <a:t>Masks the intent of the client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FC15B0-B441-D5C5-6E75-69EB2131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74CB333-1DE2-9309-B169-43DC948D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B09082-8B51-CC2A-2419-D6532690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126022-B49C-BA84-78E7-299E4205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Configuration Templates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8863ED-406B-729A-E693-294D35A2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Configuration Template</a:t>
            </a:r>
            <a:r>
              <a:rPr lang="en-US" dirty="0"/>
              <a:t> is a fragment of configuration, stored in the running datastore</a:t>
            </a:r>
          </a:p>
          <a:p>
            <a:r>
              <a:rPr lang="en-US" dirty="0"/>
              <a:t>A node in &lt;running&gt; can </a:t>
            </a:r>
            <a:r>
              <a:rPr lang="en-US" b="1" dirty="0"/>
              <a:t>apply</a:t>
            </a:r>
            <a:r>
              <a:rPr lang="en-US" dirty="0"/>
              <a:t> a template to instantiate its configuration on descendant nodes</a:t>
            </a:r>
          </a:p>
          <a:p>
            <a:r>
              <a:rPr lang="en-US" dirty="0"/>
              <a:t>Config from templates can be </a:t>
            </a:r>
            <a:r>
              <a:rPr lang="en-US" b="1" dirty="0" err="1"/>
              <a:t>overriden</a:t>
            </a:r>
            <a:r>
              <a:rPr lang="en-US" dirty="0"/>
              <a:t> by regular config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6C9D13-60D0-2CBC-E0C9-E2EAACB9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4533B4C-64F6-50A6-D247-33599C00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4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7CA00B-E1D0-408B-FC17-52B3017A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7FFE34-B5DF-2AFE-4583-5F29E47F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Pieces of the template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4946BAC-743C-F72E-2F29-CD3C1C84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AFC05C-085C-1222-5BDD-28BFA61C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4</a:t>
            </a:fld>
            <a:endParaRPr lang="en-US"/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xmlns="" id="{518B1082-BA93-F4CC-2BB5-E4704C3166F3}"/>
              </a:ext>
            </a:extLst>
          </p:cNvPr>
          <p:cNvSpPr/>
          <p:nvPr/>
        </p:nvSpPr>
        <p:spPr>
          <a:xfrm>
            <a:off x="1347169" y="1507713"/>
            <a:ext cx="1451872" cy="173107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&lt;running&gt;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xmlns="" id="{7CABA859-2EEF-4A24-5D61-8E48B863E2A6}"/>
              </a:ext>
            </a:extLst>
          </p:cNvPr>
          <p:cNvSpPr/>
          <p:nvPr/>
        </p:nvSpPr>
        <p:spPr>
          <a:xfrm>
            <a:off x="6344961" y="1507713"/>
            <a:ext cx="1451872" cy="173107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&lt;intended&gt;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C1DD924-36F5-625A-68E2-DB7FC3C59644}"/>
              </a:ext>
            </a:extLst>
          </p:cNvPr>
          <p:cNvSpPr txBox="1"/>
          <p:nvPr/>
        </p:nvSpPr>
        <p:spPr>
          <a:xfrm>
            <a:off x="628650" y="3615818"/>
            <a:ext cx="33537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 to define templates</a:t>
            </a:r>
          </a:p>
          <a:p>
            <a:endParaRPr lang="en-US" dirty="0"/>
          </a:p>
          <a:p>
            <a:r>
              <a:rPr lang="en-US" dirty="0"/>
              <a:t>Regular config</a:t>
            </a:r>
          </a:p>
          <a:p>
            <a:endParaRPr lang="en-US" dirty="0"/>
          </a:p>
          <a:p>
            <a:r>
              <a:rPr lang="en-US" dirty="0"/>
              <a:t>Metadata to apply templates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20FF6F6-F98D-74E4-CD98-DF185A02C001}"/>
              </a:ext>
            </a:extLst>
          </p:cNvPr>
          <p:cNvSpPr txBox="1"/>
          <p:nvPr/>
        </p:nvSpPr>
        <p:spPr>
          <a:xfrm>
            <a:off x="6169368" y="3615818"/>
            <a:ext cx="1978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Regular config</a:t>
            </a:r>
          </a:p>
          <a:p>
            <a:r>
              <a:rPr lang="en-US" dirty="0"/>
              <a:t>                +</a:t>
            </a:r>
          </a:p>
          <a:p>
            <a:r>
              <a:rPr lang="en-US" dirty="0"/>
              <a:t>config expanded from templates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xmlns="" id="{B404457F-7A2F-78F8-04A2-852F0A079AEC}"/>
              </a:ext>
            </a:extLst>
          </p:cNvPr>
          <p:cNvSpPr/>
          <p:nvPr/>
        </p:nvSpPr>
        <p:spPr>
          <a:xfrm>
            <a:off x="3159660" y="2022067"/>
            <a:ext cx="2824681" cy="758318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Template expansion</a:t>
            </a:r>
          </a:p>
        </p:txBody>
      </p:sp>
    </p:spTree>
    <p:extLst>
      <p:ext uri="{BB962C8B-B14F-4D97-AF65-F5344CB8AC3E}">
        <p14:creationId xmlns:p14="http://schemas.microsoft.com/office/powerpoint/2010/main" val="22478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2C2FE9-3638-09C5-9816-DD1F4C1B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BF1D3F-D4B1-154A-2F6C-48C9D644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-02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1258EC-E496-66DC-75C5-308B75C76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Section 4.5: Deletion of templates</a:t>
            </a:r>
          </a:p>
          <a:p>
            <a:r>
              <a:rPr lang="en-US" dirty="0"/>
              <a:t>New Section 8: Operational considerations</a:t>
            </a:r>
          </a:p>
          <a:p>
            <a:r>
              <a:rPr lang="en-US" dirty="0"/>
              <a:t>New Appendix A: Requirements implementation status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Open issues:</a:t>
            </a:r>
          </a:p>
          <a:p>
            <a:r>
              <a:rPr lang="en-US" dirty="0"/>
              <a:t>How to model the contents of a template</a:t>
            </a:r>
          </a:p>
          <a:p>
            <a:pPr lvl="1"/>
            <a:r>
              <a:rPr lang="en-US" dirty="0"/>
              <a:t>Will discuss this on the next few slides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4FACB-4DAE-050E-0520-CCC26629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6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415F8D-8D20-0C7C-A578-CE183712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760BA8-F656-3E44-24B9-F999EC03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template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CFC26A-8166-F2D6-DB0F-2AD38A6DE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D3BBF5D-CB27-B4FD-7735-DCA20AB8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965CD58-A9F2-7939-F46D-97552B45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3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325A89-75F6-B14F-F459-A4ED6760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0B6DFA-761F-B6E1-D517-3039157B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Reminder: Defining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20E31D-5357-142A-D690-7C24CC34E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10" y="1971913"/>
            <a:ext cx="7886700" cy="332504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01ACBCC-B389-5221-716A-E9069798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4C7F19E-DCF4-EB46-4154-A6BDBEEF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7</a:t>
            </a:fld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xmlns="" id="{3634E080-1549-3C67-4550-991A658977DB}"/>
              </a:ext>
            </a:extLst>
          </p:cNvPr>
          <p:cNvSpPr/>
          <p:nvPr/>
        </p:nvSpPr>
        <p:spPr>
          <a:xfrm>
            <a:off x="2966565" y="2655079"/>
            <a:ext cx="62385" cy="746877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F87CB09-A569-6B46-73D4-AB440D7A7116}"/>
              </a:ext>
            </a:extLst>
          </p:cNvPr>
          <p:cNvSpPr txBox="1"/>
          <p:nvPr/>
        </p:nvSpPr>
        <p:spPr>
          <a:xfrm>
            <a:off x="3036802" y="2687902"/>
            <a:ext cx="182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template contains a fragment of config using the </a:t>
            </a:r>
            <a:r>
              <a:rPr lang="en-US" sz="1200" dirty="0" err="1">
                <a:solidFill>
                  <a:schemeClr val="accent6"/>
                </a:solidFill>
              </a:rPr>
              <a:t>ietf</a:t>
            </a:r>
            <a:r>
              <a:rPr lang="en-US" sz="1200" dirty="0">
                <a:solidFill>
                  <a:schemeClr val="accent6"/>
                </a:solidFill>
              </a:rPr>
              <a:t>-interfaces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BA1AE89-E94F-C9A9-C732-44DD646AAA19}"/>
              </a:ext>
            </a:extLst>
          </p:cNvPr>
          <p:cNvSpPr txBox="1"/>
          <p:nvPr/>
        </p:nvSpPr>
        <p:spPr>
          <a:xfrm>
            <a:off x="628648" y="1470844"/>
            <a:ext cx="766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Templates are defined in a list in the &lt;running&gt; datastore – for 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2FB2C15-096E-C1D2-26F3-8B624429CD3B}"/>
              </a:ext>
            </a:extLst>
          </p:cNvPr>
          <p:cNvSpPr txBox="1"/>
          <p:nvPr/>
        </p:nvSpPr>
        <p:spPr>
          <a:xfrm>
            <a:off x="628648" y="4135415"/>
            <a:ext cx="766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what is the schema for the data inside &lt;content&gt;…&lt;/content&gt;?</a:t>
            </a:r>
          </a:p>
        </p:txBody>
      </p:sp>
    </p:spTree>
    <p:extLst>
      <p:ext uri="{BB962C8B-B14F-4D97-AF65-F5344CB8AC3E}">
        <p14:creationId xmlns:p14="http://schemas.microsoft.com/office/powerpoint/2010/main" val="276562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D10B66-129F-92DD-1B83-29C61728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3EF5C8-D20D-D93F-BF2D-836C6097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</a:t>
            </a:r>
            <a:r>
              <a:rPr lang="en-US" dirty="0" err="1"/>
              <a:t>Anydata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4DBF42-685C-6692-8091-5843C97D3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the value of &lt;content&gt; as </a:t>
            </a:r>
            <a:r>
              <a:rPr lang="en-US" dirty="0" err="1"/>
              <a:t>Anydata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Problems:</a:t>
            </a:r>
          </a:p>
          <a:p>
            <a:r>
              <a:rPr lang="en-US" dirty="0"/>
              <a:t>No schema to declare what a valid template is</a:t>
            </a:r>
          </a:p>
          <a:p>
            <a:r>
              <a:rPr lang="en-US" dirty="0"/>
              <a:t>Opaque data – not possible for the client to edit part of the template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652ACB6-384F-985F-E819-53158EA2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DB6EA0-D8D0-F2F6-12B0-ADE7599F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5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2783EE-98E7-3F14-A842-34D7AA74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D6565-3B97-CCF2-1B7A-819BFB0D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Automatically derive a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9F4D2F-062E-3C06-747F-478BC35B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&lt;content&gt; as a presence container</a:t>
            </a:r>
          </a:p>
          <a:p>
            <a:r>
              <a:rPr lang="en-US" dirty="0"/>
              <a:t>For each Yang model that the server supports, derive a second “template model” that augments /templates/template/content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the server implements </a:t>
            </a:r>
            <a:r>
              <a:rPr lang="en-US" dirty="0" err="1"/>
              <a:t>ietf</a:t>
            </a:r>
            <a:r>
              <a:rPr lang="en-US" dirty="0"/>
              <a:t>-interfaces</a:t>
            </a:r>
          </a:p>
          <a:p>
            <a:pPr lvl="1"/>
            <a:r>
              <a:rPr lang="en-US" dirty="0"/>
              <a:t>the server derives a second model that augments /templates/template/content to provide the “interfaces” list</a:t>
            </a:r>
          </a:p>
          <a:p>
            <a:r>
              <a:rPr lang="en-US" dirty="0"/>
              <a:t>To a client, the template content is just another Yang container whose contents is all the configuration that could live in that template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5B19D22-B972-EF73-39D2-B26D68AA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B96791A-E6EC-88EA-E837-88D8FAE1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4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509A35-026A-FD09-879A-BCE61A37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D30C1D-48F8-7C63-6CCB-EB54EADF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can’t we use schema mount?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B5A2C6-DB3D-9783-E503-FB5898F0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proposal is similar to schema mount</a:t>
            </a:r>
          </a:p>
          <a:p>
            <a:r>
              <a:rPr lang="en-US" dirty="0"/>
              <a:t>However, the schema inside a template is not identical to the regular schema:</a:t>
            </a:r>
          </a:p>
          <a:p>
            <a:pPr lvl="1"/>
            <a:r>
              <a:rPr lang="en-US" dirty="0"/>
              <a:t>Templates have weaker validation constraints – for example, no mandatory nodes</a:t>
            </a:r>
          </a:p>
          <a:p>
            <a:pPr lvl="1"/>
            <a:r>
              <a:rPr lang="en-US" dirty="0"/>
              <a:t>May allow wildcards for list keys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FB1518F-026E-CBF6-AC66-FCA37250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33695B-B2E9-CAF5-BB3B-4C7D4BD2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1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60B630-7356-307E-62EA-2E763C3E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F95893-DC9C-7D37-3AB6-50B1113A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template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FD1B43-D2B8-344F-1C35-3594EF12F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invite Working Group feedback on the merits of the two options</a:t>
            </a:r>
          </a:p>
          <a:p>
            <a:r>
              <a:rPr lang="en-US" b="1" dirty="0"/>
              <a:t>Option 1: </a:t>
            </a:r>
            <a:r>
              <a:rPr lang="en-US" dirty="0" err="1"/>
              <a:t>Anydata</a:t>
            </a:r>
            <a:endParaRPr lang="en-US" dirty="0"/>
          </a:p>
          <a:p>
            <a:r>
              <a:rPr lang="en-US" b="1" dirty="0"/>
              <a:t>Option 2: </a:t>
            </a:r>
            <a:r>
              <a:rPr lang="en-US" dirty="0"/>
              <a:t>Automatically derive a schema</a:t>
            </a:r>
          </a:p>
          <a:p>
            <a:r>
              <a:rPr lang="en-US" dirty="0"/>
              <a:t>Alternative suggestions also welcomed!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F078700-FACA-5A53-2FDE-823ADDBC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30A3FA6-8531-E5BF-1B0D-8061916A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0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483E95-4CA0-8F48-0ECE-9CF65EC3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A5541B-2689-561E-9F90-B5F8C88AF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Modelling template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D168F7-7424-07A1-18F3-0242C6A58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10" y="1971913"/>
            <a:ext cx="7886700" cy="332504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650939E-F46B-5001-E60D-9721D7BE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BADA4A-5BE1-29C7-2B06-D6A755EE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12</a:t>
            </a:fld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xmlns="" id="{49B1139A-0F57-164C-0534-EEA0C0485CB8}"/>
              </a:ext>
            </a:extLst>
          </p:cNvPr>
          <p:cNvSpPr/>
          <p:nvPr/>
        </p:nvSpPr>
        <p:spPr>
          <a:xfrm>
            <a:off x="2966565" y="2655079"/>
            <a:ext cx="62385" cy="746877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CA5003-36C2-65C0-3B9D-AC37E521672B}"/>
              </a:ext>
            </a:extLst>
          </p:cNvPr>
          <p:cNvSpPr txBox="1"/>
          <p:nvPr/>
        </p:nvSpPr>
        <p:spPr>
          <a:xfrm>
            <a:off x="3036802" y="2687902"/>
            <a:ext cx="182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template contains a fragment of config using the </a:t>
            </a:r>
            <a:r>
              <a:rPr lang="en-US" sz="1200" dirty="0" err="1">
                <a:solidFill>
                  <a:schemeClr val="accent6"/>
                </a:solidFill>
              </a:rPr>
              <a:t>ietf</a:t>
            </a:r>
            <a:r>
              <a:rPr lang="en-US" sz="1200" dirty="0">
                <a:solidFill>
                  <a:schemeClr val="accent6"/>
                </a:solidFill>
              </a:rPr>
              <a:t>-interfaces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C9E97D2-3320-9206-A77E-DC5F6CAE742E}"/>
              </a:ext>
            </a:extLst>
          </p:cNvPr>
          <p:cNvSpPr txBox="1"/>
          <p:nvPr/>
        </p:nvSpPr>
        <p:spPr>
          <a:xfrm>
            <a:off x="628648" y="1470844"/>
            <a:ext cx="766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Templates are defined in a list in the &lt;running&gt; datastore – for 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AE4A01A-1E1B-2D15-4BA5-E1D58689ED06}"/>
              </a:ext>
            </a:extLst>
          </p:cNvPr>
          <p:cNvSpPr txBox="1"/>
          <p:nvPr/>
        </p:nvSpPr>
        <p:spPr>
          <a:xfrm>
            <a:off x="628648" y="4135415"/>
            <a:ext cx="766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what is the schema for the data inside &lt;content&gt;…&lt;/content&gt;?</a:t>
            </a:r>
          </a:p>
        </p:txBody>
      </p:sp>
    </p:spTree>
    <p:extLst>
      <p:ext uri="{BB962C8B-B14F-4D97-AF65-F5344CB8AC3E}">
        <p14:creationId xmlns:p14="http://schemas.microsoft.com/office/powerpoint/2010/main" val="400023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D24685-190E-CF73-384D-61C61185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CD001E-D77A-7F40-3EC2-DBD6FC1C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DBBED1-A90A-EE5C-97DE-0A6E68DDB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44C6053-0241-E123-9BE1-8809C114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9785443-E460-9ACC-EB2F-CE096267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9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10A896-997D-4258-3819-A2F18919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787A06-5ED4-D957-0AEB-9BDC28F1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EDB5FCB-5AEE-2BE0-9D0F-995D80734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C3581ED-49DA-5E05-B606-1AD48AEEB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821FD82-8A59-8688-5D74-870DEA5B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5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E7C779-5A71-B89C-A76D-FE092FC0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8429AD-2336-CA62-7321-156E9C1C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and applying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D2D214-76FE-8DBC-8489-DFE683F2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Templates have their own Yang model</a:t>
            </a:r>
          </a:p>
          <a:p>
            <a:pPr lvl="1"/>
            <a:r>
              <a:rPr lang="en-US" dirty="0"/>
              <a:t>A list of templates:</a:t>
            </a:r>
          </a:p>
          <a:p>
            <a:pPr lvl="2"/>
            <a:r>
              <a:rPr lang="en-US" dirty="0"/>
              <a:t>Name</a:t>
            </a:r>
          </a:p>
          <a:p>
            <a:pPr lvl="2"/>
            <a:r>
              <a:rPr lang="en-US" dirty="0"/>
              <a:t>Content</a:t>
            </a:r>
          </a:p>
          <a:p>
            <a:pPr lvl="1"/>
            <a:r>
              <a:rPr lang="en-US" dirty="0"/>
              <a:t>Templates are manipulated just like any other config in the datastore</a:t>
            </a:r>
          </a:p>
          <a:p>
            <a:pPr lvl="1"/>
            <a:r>
              <a:rPr lang="en-US" dirty="0"/>
              <a:t>The template’s content can be any config nodes in the device’s schema</a:t>
            </a:r>
          </a:p>
          <a:p>
            <a:pPr lvl="1"/>
            <a:r>
              <a:rPr lang="en-US" dirty="0"/>
              <a:t>The content can use a pattern on list keys to restrict which list entries the template takes effect for</a:t>
            </a:r>
          </a:p>
          <a:p>
            <a:r>
              <a:rPr lang="en-US" dirty="0"/>
              <a:t>Templates are applied using RFC 7952 metadata</a:t>
            </a:r>
          </a:p>
          <a:p>
            <a:pPr lvl="1"/>
            <a:r>
              <a:rPr lang="en-US" dirty="0"/>
              <a:t>Multiple templates can be applied to a node</a:t>
            </a:r>
          </a:p>
          <a:p>
            <a:pPr lvl="1"/>
            <a:r>
              <a:rPr lang="en-US" dirty="0"/>
              <a:t>Templates can be applied at any level in the hierarchy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4178052-A983-7106-3AFE-9E4E3D8D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E2EDDD9-2854-A5D9-E1FC-1FB900A8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6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5E2A70-3809-8E0A-9CE1-48C885DF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6508DD-84EC-05E1-7BA3-199A16BF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apply-templates: RFC 7952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D88697-CB5D-1BDE-FE27-9B849CF8F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a new piece of metadata: </a:t>
            </a:r>
            <a:r>
              <a:rPr lang="en-US" b="1" dirty="0"/>
              <a:t>apply-templates</a:t>
            </a:r>
          </a:p>
          <a:p>
            <a:r>
              <a:rPr lang="en-US" dirty="0"/>
              <a:t>Value is a space-separated list of templates to apply to the node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No existing mechanism for a client to edit RFC 7952 metadata?</a:t>
            </a:r>
          </a:p>
          <a:p>
            <a:r>
              <a:rPr lang="en-US" dirty="0"/>
              <a:t>The draft proposes a mechanism to do this, by specifying the metadata alongside the regular config in the edit request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86BE1CF-EBD5-CC86-E9CD-7A8B6182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2BC9E6-FF6E-7498-5547-57F700FE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6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84BE03-7F03-5950-3AD6-598CB358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D659A5-8F88-5FCB-565C-C503B9AB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and precedence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8305D0-0EBF-CA12-17AE-613ABE83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value of a node in &lt;intended&gt; is determined by using precedence rules to decide where to take the value from</a:t>
            </a:r>
          </a:p>
          <a:p>
            <a:pPr lvl="1"/>
            <a:r>
              <a:rPr lang="en-US" dirty="0"/>
              <a:t>The draft specifies the precedence rules</a:t>
            </a:r>
          </a:p>
          <a:p>
            <a:r>
              <a:rPr lang="en-US" dirty="0"/>
              <a:t>When the contents of a template is changed,</a:t>
            </a:r>
            <a:br>
              <a:rPr lang="en-US" dirty="0"/>
            </a:br>
            <a:r>
              <a:rPr lang="en-US" dirty="0"/>
              <a:t>&lt;intended&gt; is also changed</a:t>
            </a:r>
          </a:p>
          <a:p>
            <a:pPr lvl="1"/>
            <a:r>
              <a:rPr lang="en-US" dirty="0"/>
              <a:t>“living templates”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EBA7F4A-B65C-56BD-E951-BFACE46B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0A53D7B-3C75-290B-B911-CE28DD35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1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70A146-3E91-6293-B0EB-4EFC98453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4178DE-C674-8B5B-2B5C-2088ABAB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0BECE5-2A5D-55A0-ED70-C3F08ADBA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&lt;running&gt;:</a:t>
            </a:r>
          </a:p>
          <a:p>
            <a:pPr lvl="1"/>
            <a:r>
              <a:rPr lang="en-US" dirty="0"/>
              <a:t>Template content does not have to be fully valid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 mandatory nodes can be missing</a:t>
            </a:r>
          </a:p>
          <a:p>
            <a:pPr lvl="1"/>
            <a:r>
              <a:rPr lang="en-US" dirty="0"/>
              <a:t>Where validation is possible (</a:t>
            </a:r>
            <a:r>
              <a:rPr lang="en-US" dirty="0" err="1"/>
              <a:t>eg</a:t>
            </a:r>
            <a:r>
              <a:rPr lang="en-US" dirty="0"/>
              <a:t> range, pattern, length), the server SHOULD enforce these constraints in the template</a:t>
            </a:r>
          </a:p>
          <a:p>
            <a:r>
              <a:rPr lang="en-US" dirty="0"/>
              <a:t>The contents of &lt;intended&gt; (after template expansion) must be valid at commit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8718A3-7F70-3D3D-1850-FEA0D93A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5DF09B-2245-999C-BEF5-23FCFADA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C296BE-7BA4-FD02-C7DF-3EA11432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303B27-1585-2BFF-E61F-E9048CB2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D86E9D3-EB52-BA6F-EE37-741B5413F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interface config for this example, but templates work with any schema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2F436B2-6C32-CA11-3418-08D3AE16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401B26A-5C95-3017-9974-F81D5D5C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E685C5-DA69-E112-CF01-0E349394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703487-1438-A9DF-CF60-99D9663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Worked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194DCE7-7331-1C26-BCEB-3B1A2DBD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E21BEEE-9AD9-ABBA-AC65-FD06D3E7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20</a:t>
            </a:fld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3B028F21-41BD-56FF-5711-3AE18F9FD376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6F666595-AF30-F4DD-D8E5-4A7AEF40538A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DE6D51B1-00F0-3A32-460A-C1A1945D1564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25B7335-F0B3-5846-5FBF-2141F17D50F3}"/>
              </a:ext>
            </a:extLst>
          </p:cNvPr>
          <p:cNvSpPr txBox="1"/>
          <p:nvPr/>
        </p:nvSpPr>
        <p:spPr>
          <a:xfrm>
            <a:off x="1574599" y="2473354"/>
            <a:ext cx="173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Templates are defined and applied in the &lt;running&gt; datastore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xmlns="" id="{DEDDB4E2-0A9B-2D78-37FF-3613FB73E285}"/>
              </a:ext>
            </a:extLst>
          </p:cNvPr>
          <p:cNvSpPr/>
          <p:nvPr/>
        </p:nvSpPr>
        <p:spPr>
          <a:xfrm>
            <a:off x="3560290" y="2417360"/>
            <a:ext cx="2824681" cy="758318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Template expansion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46F9CDE-ECD1-BC57-6F51-E1778C759DB4}"/>
              </a:ext>
            </a:extLst>
          </p:cNvPr>
          <p:cNvSpPr txBox="1"/>
          <p:nvPr/>
        </p:nvSpPr>
        <p:spPr>
          <a:xfrm>
            <a:off x="6637692" y="2473354"/>
            <a:ext cx="165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expanded config appears in the &lt;intended&gt; datastore</a:t>
            </a:r>
          </a:p>
        </p:txBody>
      </p:sp>
    </p:spTree>
    <p:extLst>
      <p:ext uri="{BB962C8B-B14F-4D97-AF65-F5344CB8AC3E}">
        <p14:creationId xmlns:p14="http://schemas.microsoft.com/office/powerpoint/2010/main" val="423409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FED5A6-734E-9FD2-E406-2F7F250E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5E9EC7-3753-D6A1-3D89-886B3C60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Defining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0BBEFA-9641-7263-7D98-3570FA1E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DC47644-FD4E-3757-9D76-A5DEFF2C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8ACB4B8-8751-F217-6BB5-AAE44B7B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21</a:t>
            </a:fld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0AAAD60D-AF2D-2C5E-4DC9-8689CF6DA830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A26C477A-88D5-CBB7-C904-D70791E30D02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2FB7A873-FC04-13CB-20E9-B19B38F642D2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Brace 6">
            <a:extLst>
              <a:ext uri="{FF2B5EF4-FFF2-40B4-BE49-F238E27FC236}">
                <a16:creationId xmlns:a16="http://schemas.microsoft.com/office/drawing/2014/main" xmlns="" id="{A0C81F0E-622D-DBCC-090D-07F56DF7C9A4}"/>
              </a:ext>
            </a:extLst>
          </p:cNvPr>
          <p:cNvSpPr/>
          <p:nvPr/>
        </p:nvSpPr>
        <p:spPr>
          <a:xfrm>
            <a:off x="2966565" y="1800879"/>
            <a:ext cx="62385" cy="746877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B0F42E8-9380-A824-5557-12A3E142F86C}"/>
              </a:ext>
            </a:extLst>
          </p:cNvPr>
          <p:cNvSpPr txBox="1"/>
          <p:nvPr/>
        </p:nvSpPr>
        <p:spPr>
          <a:xfrm>
            <a:off x="3036802" y="1833702"/>
            <a:ext cx="182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template contains a fragment of config using the </a:t>
            </a:r>
            <a:r>
              <a:rPr lang="en-US" sz="1200" dirty="0" err="1">
                <a:solidFill>
                  <a:schemeClr val="accent6"/>
                </a:solidFill>
              </a:rPr>
              <a:t>ietf</a:t>
            </a:r>
            <a:r>
              <a:rPr lang="en-US" sz="1200" dirty="0">
                <a:solidFill>
                  <a:schemeClr val="accent6"/>
                </a:solidFill>
              </a:rPr>
              <a:t>-interfaces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4A9A8D6-DED0-C9BD-B7E4-6ABD987310D3}"/>
              </a:ext>
            </a:extLst>
          </p:cNvPr>
          <p:cNvSpPr txBox="1"/>
          <p:nvPr/>
        </p:nvSpPr>
        <p:spPr>
          <a:xfrm>
            <a:off x="628650" y="3220851"/>
            <a:ext cx="2184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Templates are defined in a list in the &lt;running&gt; datastore</a:t>
            </a:r>
          </a:p>
        </p:txBody>
      </p:sp>
    </p:spTree>
    <p:extLst>
      <p:ext uri="{BB962C8B-B14F-4D97-AF65-F5344CB8AC3E}">
        <p14:creationId xmlns:p14="http://schemas.microsoft.com/office/powerpoint/2010/main" val="148929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B87091-0442-B7BE-FCD1-36870E90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E74221-AEB7-E9D5-6452-DF0C101B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Defining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9DF61C-DC10-7F95-9E25-624255AA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D84A869-A273-931D-7616-1A90B913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EDE229C-03E4-FADE-A108-F1F3DBEA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22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D090BE96-47B9-654F-8145-FFDFF5E0B785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0E177FFE-8C77-30CB-6933-03513CD88D70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D67E1E68-701A-3A99-EC29-417E73D2082F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F5CDDAD-9038-82FB-12FC-0662EDE3B75C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Brace 6">
            <a:extLst>
              <a:ext uri="{FF2B5EF4-FFF2-40B4-BE49-F238E27FC236}">
                <a16:creationId xmlns:a16="http://schemas.microsoft.com/office/drawing/2014/main" xmlns="" id="{D77C43A5-AA7B-925A-2635-77173F7206C8}"/>
              </a:ext>
            </a:extLst>
          </p:cNvPr>
          <p:cNvSpPr/>
          <p:nvPr/>
        </p:nvSpPr>
        <p:spPr>
          <a:xfrm>
            <a:off x="2715580" y="3231811"/>
            <a:ext cx="90432" cy="1717117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xmlns="" id="{6E8A88FD-8F4A-6947-A15D-5EADFB220EF0}"/>
              </a:ext>
            </a:extLst>
          </p:cNvPr>
          <p:cNvSpPr/>
          <p:nvPr/>
        </p:nvSpPr>
        <p:spPr>
          <a:xfrm rot="10800000">
            <a:off x="5758936" y="2057982"/>
            <a:ext cx="90432" cy="1717117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01F76FA-0EC2-87F5-EB3B-2BF1CF6C3012}"/>
              </a:ext>
            </a:extLst>
          </p:cNvPr>
          <p:cNvSpPr txBox="1"/>
          <p:nvPr/>
        </p:nvSpPr>
        <p:spPr>
          <a:xfrm>
            <a:off x="2860690" y="3767203"/>
            <a:ext cx="1964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template has </a:t>
            </a:r>
            <a:r>
              <a:rPr lang="en-US" sz="1200" b="1" dirty="0">
                <a:solidFill>
                  <a:schemeClr val="accent6"/>
                </a:solidFill>
              </a:rPr>
              <a:t>not</a:t>
            </a:r>
            <a:r>
              <a:rPr lang="en-US" sz="1200" dirty="0">
                <a:solidFill>
                  <a:schemeClr val="accent6"/>
                </a:solidFill>
              </a:rPr>
              <a:t> been applied, so &lt;intended&gt; matches &lt;running&gt;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26055770-9DC1-AEA3-D212-E22E29E00EB1}"/>
              </a:ext>
            </a:extLst>
          </p:cNvPr>
          <p:cNvCxnSpPr/>
          <p:nvPr/>
        </p:nvCxnSpPr>
        <p:spPr>
          <a:xfrm flipV="1">
            <a:off x="4676702" y="2966565"/>
            <a:ext cx="1012122" cy="112380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9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3208D4-F87C-6ACB-B140-7A7D984E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0C3A6F-7987-1EE6-30E1-44187BD8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Applying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B70888-F904-B438-8994-B22433F6A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50" b="1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ct:apply-templates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="interface-</a:t>
            </a:r>
            <a:r>
              <a:rPr lang="en-US" sz="1150" b="1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93AC90A-A0DC-310D-4A9D-11A9FAA7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9122DBE-B3D3-F54D-7714-DFAA65A2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23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AFA4F79A-E373-0803-E418-A5909D6D703D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FB6CD5AC-AC83-9B1A-C2EC-6784319D026D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81415DC3-021B-E5B4-1A18-8390A4A2C53A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37A28D5D-829C-B258-9205-F3AD5802C2F7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EF291B2-655B-590A-4C77-928619086C2E}"/>
              </a:ext>
            </a:extLst>
          </p:cNvPr>
          <p:cNvSpPr txBox="1"/>
          <p:nvPr/>
        </p:nvSpPr>
        <p:spPr>
          <a:xfrm>
            <a:off x="2806884" y="2638227"/>
            <a:ext cx="205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Now, the template is applied using the</a:t>
            </a:r>
            <a:br>
              <a:rPr lang="en-US" sz="1200" dirty="0">
                <a:solidFill>
                  <a:schemeClr val="accent6"/>
                </a:solidFill>
              </a:rPr>
            </a:br>
            <a:r>
              <a:rPr lang="en-US" sz="1200" b="1" dirty="0">
                <a:solidFill>
                  <a:schemeClr val="accent6"/>
                </a:solidFill>
              </a:rPr>
              <a:t>apply-templates</a:t>
            </a:r>
            <a:r>
              <a:rPr lang="en-US" sz="1200" dirty="0">
                <a:solidFill>
                  <a:schemeClr val="accent6"/>
                </a:solidFill>
              </a:rPr>
              <a:t> metadata</a:t>
            </a:r>
          </a:p>
        </p:txBody>
      </p:sp>
    </p:spTree>
    <p:extLst>
      <p:ext uri="{BB962C8B-B14F-4D97-AF65-F5344CB8AC3E}">
        <p14:creationId xmlns:p14="http://schemas.microsoft.com/office/powerpoint/2010/main" val="373995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F65489-FA7F-2E4E-822E-0C74B94C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B54821-2D80-8F10-A3B3-3AFFF670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71"/>
            <a:ext cx="7886700" cy="1104636"/>
          </a:xfrm>
        </p:spPr>
        <p:txBody>
          <a:bodyPr/>
          <a:lstStyle/>
          <a:p>
            <a:r>
              <a:rPr lang="en-US" dirty="0"/>
              <a:t>Applying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0C43B2-4696-5FC2-B671-917291E3D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50" b="1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ct:apply-templates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="interface-</a:t>
            </a:r>
            <a:r>
              <a:rPr lang="en-US" sz="1150" b="1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769BFB-7845-1E11-4851-BE87034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49291AF-5468-43F3-E434-A9DB1234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24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8E008926-04E3-C72A-099A-FB59679B1A4C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CC083B65-BB21-DB1B-E1FD-836C8B4CB743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11BD5894-F9B7-A554-4039-6796BD203AED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B912D729-3E2F-A5D5-1B27-7B7419C172B3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6011D2B-A713-3355-DCAE-9218EDF48F26}"/>
              </a:ext>
            </a:extLst>
          </p:cNvPr>
          <p:cNvSpPr txBox="1"/>
          <p:nvPr/>
        </p:nvSpPr>
        <p:spPr>
          <a:xfrm>
            <a:off x="2806884" y="2638227"/>
            <a:ext cx="205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Now, the template is applied using the</a:t>
            </a:r>
            <a:br>
              <a:rPr lang="en-US" sz="1200" dirty="0">
                <a:solidFill>
                  <a:schemeClr val="accent6"/>
                </a:solidFill>
              </a:rPr>
            </a:br>
            <a:r>
              <a:rPr lang="en-US" sz="1200" b="1" dirty="0">
                <a:solidFill>
                  <a:schemeClr val="accent6"/>
                </a:solidFill>
              </a:rPr>
              <a:t>apply-templates</a:t>
            </a:r>
            <a:r>
              <a:rPr lang="en-US" sz="1200" dirty="0">
                <a:solidFill>
                  <a:schemeClr val="accent6"/>
                </a:solidFill>
              </a:rPr>
              <a:t> 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C7D052D-49B5-2A93-2673-6F03AB37A6FE}"/>
              </a:ext>
            </a:extLst>
          </p:cNvPr>
          <p:cNvSpPr txBox="1"/>
          <p:nvPr/>
        </p:nvSpPr>
        <p:spPr>
          <a:xfrm>
            <a:off x="5849368" y="4636314"/>
            <a:ext cx="205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Config from the template appears in </a:t>
            </a:r>
            <a:r>
              <a:rPr lang="en-US" sz="1200" b="1" dirty="0">
                <a:solidFill>
                  <a:schemeClr val="accent6"/>
                </a:solidFill>
              </a:rPr>
              <a:t>&lt;intended&gt;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CFC5D569-7BCD-A83D-4721-33A787F7C0CF}"/>
              </a:ext>
            </a:extLst>
          </p:cNvPr>
          <p:cNvCxnSpPr>
            <a:cxnSpLocks/>
          </p:cNvCxnSpPr>
          <p:nvPr/>
        </p:nvCxnSpPr>
        <p:spPr>
          <a:xfrm>
            <a:off x="2387212" y="2226666"/>
            <a:ext cx="3603360" cy="33111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E49F274B-AD00-CB8B-F84E-814A812A562C}"/>
              </a:ext>
            </a:extLst>
          </p:cNvPr>
          <p:cNvCxnSpPr>
            <a:cxnSpLocks/>
          </p:cNvCxnSpPr>
          <p:nvPr/>
        </p:nvCxnSpPr>
        <p:spPr>
          <a:xfrm>
            <a:off x="5437539" y="2499602"/>
            <a:ext cx="591351" cy="71888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EF444576-C9A0-FA2C-BEFB-3B9CC44DDAB1}"/>
              </a:ext>
            </a:extLst>
          </p:cNvPr>
          <p:cNvCxnSpPr>
            <a:cxnSpLocks/>
          </p:cNvCxnSpPr>
          <p:nvPr/>
        </p:nvCxnSpPr>
        <p:spPr>
          <a:xfrm>
            <a:off x="5437539" y="2499601"/>
            <a:ext cx="614800" cy="137650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88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9D7C64-D731-A80E-B25F-6B2DEEFA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5BBA6D-E3D9-7665-C270-CEA3A4DF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511"/>
            <a:ext cx="7886700" cy="1104636"/>
          </a:xfrm>
        </p:spPr>
        <p:txBody>
          <a:bodyPr/>
          <a:lstStyle/>
          <a:p>
            <a:r>
              <a:rPr lang="en-US" dirty="0"/>
              <a:t>Using simple patterns to restrict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3D73CA-A1F2-C1E4-B67F-7DD902268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eth.*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&gt;1500&lt;/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ct:apply-templates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="interface-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728264-DF0D-7EF1-8F90-ED68FF58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FD4E81C-7879-8E5B-08B6-CBC6E978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25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6E96FF55-776D-011C-CC60-4CFD0F6850F0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strike="sngStrike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strike="sngStrike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E4D8835D-705D-9257-F4D0-2419EBECA172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FEDBCE23-2109-33BA-BCB2-AA4378465AB4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0F8B948-3ACB-38E0-0A0B-D12C520638D7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B40E6E3-D1ED-6259-4A18-F8A66E886416}"/>
              </a:ext>
            </a:extLst>
          </p:cNvPr>
          <p:cNvSpPr txBox="1"/>
          <p:nvPr/>
        </p:nvSpPr>
        <p:spPr>
          <a:xfrm>
            <a:off x="2702180" y="2004253"/>
            <a:ext cx="205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list key has a </a:t>
            </a:r>
            <a:r>
              <a:rPr lang="en-US" sz="1200" b="1" dirty="0">
                <a:solidFill>
                  <a:schemeClr val="accent6"/>
                </a:solidFill>
              </a:rPr>
              <a:t>pattern</a:t>
            </a:r>
            <a:r>
              <a:rPr lang="en-US" sz="1200" dirty="0">
                <a:solidFill>
                  <a:schemeClr val="accent6"/>
                </a:solidFill>
              </a:rPr>
              <a:t>, restricting which list entries the template takes effect for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E6C6A62-2994-421D-0001-34D22C94B6C0}"/>
              </a:ext>
            </a:extLst>
          </p:cNvPr>
          <p:cNvSpPr txBox="1"/>
          <p:nvPr/>
        </p:nvSpPr>
        <p:spPr>
          <a:xfrm>
            <a:off x="5849368" y="4636314"/>
            <a:ext cx="205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Only </a:t>
            </a:r>
            <a:r>
              <a:rPr lang="en-US" sz="1200" b="1" dirty="0">
                <a:solidFill>
                  <a:schemeClr val="accent6"/>
                </a:solidFill>
              </a:rPr>
              <a:t>ethernet</a:t>
            </a:r>
            <a:r>
              <a:rPr lang="en-US" sz="1200" dirty="0">
                <a:solidFill>
                  <a:schemeClr val="accent6"/>
                </a:solidFill>
              </a:rPr>
              <a:t> interfaces have the template applied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9466639D-479B-23BC-3E56-37950E0DE9B6}"/>
              </a:ext>
            </a:extLst>
          </p:cNvPr>
          <p:cNvSpPr/>
          <p:nvPr/>
        </p:nvSpPr>
        <p:spPr>
          <a:xfrm>
            <a:off x="977221" y="2073104"/>
            <a:ext cx="1724959" cy="27920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C586725-BEFC-A9D3-683C-2FA3515D64F7}"/>
              </a:ext>
            </a:extLst>
          </p:cNvPr>
          <p:cNvSpPr/>
          <p:nvPr/>
        </p:nvSpPr>
        <p:spPr>
          <a:xfrm>
            <a:off x="5849368" y="2249382"/>
            <a:ext cx="2177798" cy="4786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03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AF5C93-4EFB-8F5D-1E1A-42E32680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B66815-5AF7-FB84-A3C8-71ADEBAA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511"/>
            <a:ext cx="7886700" cy="1104636"/>
          </a:xfrm>
        </p:spPr>
        <p:txBody>
          <a:bodyPr/>
          <a:lstStyle/>
          <a:p>
            <a:r>
              <a:rPr lang="en-US" dirty="0"/>
              <a:t>Updating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9276D0-0B76-0BA9-582E-03F0204DF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eth.*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ct:apply-templates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="interface-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4B962BC-9F2A-BC27-7DAE-DA7BACE3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BB516F-42D3-26E5-7631-574F7626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26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62398F59-5131-1BD3-AFE3-46762F5CED56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0D35CC59-FFAE-46FF-C8AF-D0A38E229F6A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8A043EF4-28D1-3637-2AB6-92ADAC5CC12F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97D23D9-7617-B016-20B0-D4DB16E932BB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78637EB-D262-1686-C400-60E9C34A910C}"/>
              </a:ext>
            </a:extLst>
          </p:cNvPr>
          <p:cNvSpPr txBox="1"/>
          <p:nvPr/>
        </p:nvSpPr>
        <p:spPr>
          <a:xfrm>
            <a:off x="3079101" y="2073501"/>
            <a:ext cx="205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value of the MTU is updated in the template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989732D-BB06-1660-1C46-6ABAA2F66DAF}"/>
              </a:ext>
            </a:extLst>
          </p:cNvPr>
          <p:cNvSpPr txBox="1"/>
          <p:nvPr/>
        </p:nvSpPr>
        <p:spPr>
          <a:xfrm>
            <a:off x="5849367" y="4636314"/>
            <a:ext cx="188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change </a:t>
            </a:r>
            <a:r>
              <a:rPr lang="en-US" sz="1200" b="1" dirty="0">
                <a:solidFill>
                  <a:schemeClr val="accent6"/>
                </a:solidFill>
              </a:rPr>
              <a:t>takes effect </a:t>
            </a:r>
            <a:r>
              <a:rPr lang="en-US" sz="1200" dirty="0">
                <a:solidFill>
                  <a:schemeClr val="accent6"/>
                </a:solidFill>
              </a:rPr>
              <a:t>in &lt;intended&gt;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12AF9905-750C-E4B7-6F3F-E272BC7B70BA}"/>
              </a:ext>
            </a:extLst>
          </p:cNvPr>
          <p:cNvCxnSpPr>
            <a:cxnSpLocks/>
          </p:cNvCxnSpPr>
          <p:nvPr/>
        </p:nvCxnSpPr>
        <p:spPr>
          <a:xfrm>
            <a:off x="2383655" y="2368041"/>
            <a:ext cx="3647197" cy="70814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A7F58CB4-15E9-D494-E7F3-31403FDC5B4A}"/>
              </a:ext>
            </a:extLst>
          </p:cNvPr>
          <p:cNvCxnSpPr>
            <a:cxnSpLocks/>
          </p:cNvCxnSpPr>
          <p:nvPr/>
        </p:nvCxnSpPr>
        <p:spPr>
          <a:xfrm>
            <a:off x="5430560" y="2956982"/>
            <a:ext cx="613090" cy="71457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5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1AA576-BE7A-FF3B-ECEA-567A878C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9BD551-B300-40A4-AB9C-8EF25524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511"/>
            <a:ext cx="7886700" cy="1104636"/>
          </a:xfrm>
        </p:spPr>
        <p:txBody>
          <a:bodyPr/>
          <a:lstStyle/>
          <a:p>
            <a:r>
              <a:rPr lang="en-US" dirty="0"/>
              <a:t>Overriding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CB72DB-27A6-6F0F-1C4E-141828E2D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4745"/>
            <a:ext cx="7886700" cy="41522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eth.*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9000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&lt;/templates&gt;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ct:apply-templates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="interface-</a:t>
            </a:r>
            <a:r>
              <a:rPr lang="en-US" sz="11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638AA6D-2404-4594-A8CB-76DCF766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B989540-DC8F-E8D0-28D6-D470543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27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85B41EDF-E80D-2C70-F081-094A4F41DB63}"/>
              </a:ext>
            </a:extLst>
          </p:cNvPr>
          <p:cNvSpPr txBox="1">
            <a:spLocks/>
          </p:cNvSpPr>
          <p:nvPr/>
        </p:nvSpPr>
        <p:spPr>
          <a:xfrm>
            <a:off x="5849368" y="1208452"/>
            <a:ext cx="2924684" cy="4152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loopback0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&lt;name&gt;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eth1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&lt;/name&gt;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150" b="1" dirty="0">
                <a:latin typeface="Consolas" panose="020B0609020204030204" pitchFamily="49" charset="0"/>
                <a:cs typeface="Consolas" panose="020B0609020204030204" pitchFamily="49" charset="0"/>
              </a:rPr>
              <a:t>9000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15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 &lt;/interface&gt;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50" dirty="0">
                <a:latin typeface="Consolas" panose="020B0609020204030204" pitchFamily="49" charset="0"/>
                <a:cs typeface="Consolas" panose="020B0609020204030204" pitchFamily="49" charset="0"/>
              </a:rPr>
              <a:t>&lt;/interfaces&gt;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xmlns="" id="{8230C2EC-46A0-BA66-B9E7-465C4354AF25}"/>
              </a:ext>
            </a:extLst>
          </p:cNvPr>
          <p:cNvSpPr/>
          <p:nvPr/>
        </p:nvSpPr>
        <p:spPr>
          <a:xfrm flipH="1">
            <a:off x="3794150" y="1081038"/>
            <a:ext cx="1067963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&lt;running&gt;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xmlns="" id="{363566B9-137A-996F-0545-25012067BF8E}"/>
              </a:ext>
            </a:extLst>
          </p:cNvPr>
          <p:cNvSpPr/>
          <p:nvPr/>
        </p:nvSpPr>
        <p:spPr>
          <a:xfrm>
            <a:off x="4972631" y="1081037"/>
            <a:ext cx="1149399" cy="299063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&lt;intended&gt;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4F2B4DE8-B6FF-0282-D735-E3ED475C2E48}"/>
              </a:ext>
            </a:extLst>
          </p:cNvPr>
          <p:cNvCxnSpPr/>
          <p:nvPr/>
        </p:nvCxnSpPr>
        <p:spPr>
          <a:xfrm>
            <a:off x="4916791" y="1081037"/>
            <a:ext cx="0" cy="4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2CD3080-7C17-6A94-2984-A5010FD76D08}"/>
              </a:ext>
            </a:extLst>
          </p:cNvPr>
          <p:cNvSpPr txBox="1"/>
          <p:nvPr/>
        </p:nvSpPr>
        <p:spPr>
          <a:xfrm>
            <a:off x="2516775" y="4451648"/>
            <a:ext cx="205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eth0 subtree overrides the value of the MTU leaf by explicitly setting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10FA5E-4631-7E9A-C205-F0B05701A9A2}"/>
              </a:ext>
            </a:extLst>
          </p:cNvPr>
          <p:cNvSpPr txBox="1"/>
          <p:nvPr/>
        </p:nvSpPr>
        <p:spPr>
          <a:xfrm>
            <a:off x="5849367" y="4636314"/>
            <a:ext cx="188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The explicitly set value </a:t>
            </a:r>
            <a:r>
              <a:rPr lang="en-US" sz="1200" b="1" dirty="0">
                <a:solidFill>
                  <a:schemeClr val="accent6"/>
                </a:solidFill>
              </a:rPr>
              <a:t>takes priority </a:t>
            </a:r>
            <a:r>
              <a:rPr lang="en-US" sz="1200" dirty="0">
                <a:solidFill>
                  <a:schemeClr val="accent6"/>
                </a:solidFill>
              </a:rPr>
              <a:t>for eth0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A4267353-030E-B6BC-B1BE-142133692B29}"/>
              </a:ext>
            </a:extLst>
          </p:cNvPr>
          <p:cNvCxnSpPr>
            <a:cxnSpLocks/>
          </p:cNvCxnSpPr>
          <p:nvPr/>
        </p:nvCxnSpPr>
        <p:spPr>
          <a:xfrm flipV="1">
            <a:off x="2170827" y="3076181"/>
            <a:ext cx="3860025" cy="149407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0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232A60-55E5-9E13-AC5F-61792801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3A7D0E-A19D-E1BA-D78A-F2449C3A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and precedence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E104D7-1D24-8BC6-2C59-E5069B4A8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value of a node in &lt;intended&gt; is determined by using precedence to decide where to take the value from</a:t>
            </a:r>
          </a:p>
          <a:p>
            <a:pPr lvl="1"/>
            <a:r>
              <a:rPr lang="en-US" b="1" dirty="0"/>
              <a:t>Non-template config </a:t>
            </a:r>
            <a:r>
              <a:rPr lang="en-US" dirty="0"/>
              <a:t>always has the highest precedence</a:t>
            </a:r>
          </a:p>
          <a:p>
            <a:pPr lvl="1"/>
            <a:r>
              <a:rPr lang="en-US" dirty="0"/>
              <a:t>When templates are applied to multiple ancestors, the </a:t>
            </a:r>
            <a:r>
              <a:rPr lang="en-US" b="1" dirty="0"/>
              <a:t>innermost ancestor</a:t>
            </a:r>
            <a:r>
              <a:rPr lang="en-US" dirty="0"/>
              <a:t> takes precedence</a:t>
            </a:r>
          </a:p>
          <a:p>
            <a:pPr lvl="1"/>
            <a:r>
              <a:rPr lang="en-US" dirty="0"/>
              <a:t>When multiple templates are applied to a node, the </a:t>
            </a:r>
            <a:r>
              <a:rPr lang="en-US" b="1" dirty="0"/>
              <a:t>order they appear </a:t>
            </a:r>
            <a:r>
              <a:rPr lang="en-US" dirty="0"/>
              <a:t>determines the precedence</a:t>
            </a:r>
          </a:p>
          <a:p>
            <a:r>
              <a:rPr lang="en-US" dirty="0"/>
              <a:t>Expansion is “additive”:</a:t>
            </a:r>
          </a:p>
          <a:p>
            <a:pPr lvl="1"/>
            <a:r>
              <a:rPr lang="en-US" dirty="0"/>
              <a:t>A node from a template can be </a:t>
            </a:r>
            <a:r>
              <a:rPr lang="en-US" b="1" dirty="0"/>
              <a:t>modified</a:t>
            </a:r>
            <a:r>
              <a:rPr lang="en-US" dirty="0"/>
              <a:t> using non-template config, but cannot be </a:t>
            </a:r>
            <a:r>
              <a:rPr lang="en-US" b="1" dirty="0"/>
              <a:t>deleted</a:t>
            </a:r>
          </a:p>
          <a:p>
            <a:r>
              <a:rPr lang="en-US" dirty="0"/>
              <a:t>When a template is changed, &lt;intended&gt; is changed</a:t>
            </a:r>
          </a:p>
          <a:p>
            <a:pPr lvl="1"/>
            <a:r>
              <a:rPr lang="en-US" dirty="0"/>
              <a:t>“living templates”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A211B86-0744-7CBE-9189-52FD769C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D3A6232-F080-D5EA-9EDC-072DB8B3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5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9D8A1A1-4CF8-42CC-A319-9E8098EA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E9668-4707-91F8-DBA3-F85DA483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RFC 7952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21C8D0-0208-E61C-9B5E-68506B2B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Recall: the apply-templates metadata is used to apply one or more templates to a node</a:t>
            </a:r>
          </a:p>
          <a:p>
            <a:r>
              <a:rPr lang="en-US" dirty="0"/>
              <a:t>No existing mechanism for a client to edit RFC 7952 metadata?</a:t>
            </a:r>
          </a:p>
          <a:p>
            <a:r>
              <a:rPr lang="en-US" dirty="0"/>
              <a:t>The draft proposes that in an edit request:</a:t>
            </a:r>
          </a:p>
          <a:p>
            <a:pPr lvl="1"/>
            <a:r>
              <a:rPr lang="en-US" dirty="0"/>
              <a:t>If apply-templates is </a:t>
            </a:r>
            <a:r>
              <a:rPr lang="en-US" b="1" dirty="0"/>
              <a:t>specified and non-empty</a:t>
            </a:r>
            <a:r>
              <a:rPr lang="en-US" dirty="0"/>
              <a:t>, the metadata is set to that value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 the client provides the new list of templates to apply to the node</a:t>
            </a:r>
          </a:p>
          <a:p>
            <a:pPr lvl="1"/>
            <a:r>
              <a:rPr lang="en-US" dirty="0"/>
              <a:t>If apply–templates is </a:t>
            </a:r>
            <a:r>
              <a:rPr lang="en-US" b="1" dirty="0"/>
              <a:t>specified and empty</a:t>
            </a:r>
            <a:r>
              <a:rPr lang="en-US" dirty="0"/>
              <a:t>, the metadata is deleted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 the client can remove all template applications</a:t>
            </a:r>
          </a:p>
          <a:p>
            <a:pPr lvl="1"/>
            <a:r>
              <a:rPr lang="en-US" dirty="0"/>
              <a:t>If apply-templates is </a:t>
            </a:r>
            <a:r>
              <a:rPr lang="en-US" b="1" dirty="0"/>
              <a:t>not specified</a:t>
            </a:r>
            <a:r>
              <a:rPr lang="en-US" dirty="0"/>
              <a:t>, no change to the metadata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 the client can edit the children of this node without changing which templates are applied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71D1BC-CD69-7098-83E4-EA79D2C7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125 Shenzhen – YANG Configuration Templates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DFD12A1-950A-8E8A-91AF-328BC256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24982</TotalTime>
  <Words>1706</Words>
  <Application>Microsoft Office PowerPoint</Application>
  <PresentationFormat>全屏显示(16:10)</PresentationFormat>
  <Paragraphs>511</Paragraphs>
  <Slides>29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Office Theme</vt:lpstr>
      <vt:lpstr>  YANG Configuration Templates  draft-tt-netmod-yang-config-templates-02</vt:lpstr>
      <vt:lpstr>The problem</vt:lpstr>
      <vt:lpstr>YANG Configuration Templates solution</vt:lpstr>
      <vt:lpstr>Pieces of the template solution</vt:lpstr>
      <vt:lpstr>Changes in -02</vt:lpstr>
      <vt:lpstr>Modelling template contents</vt:lpstr>
      <vt:lpstr>Reminder: Defining a Template</vt:lpstr>
      <vt:lpstr>Option 1: Anydata</vt:lpstr>
      <vt:lpstr>Option 2: Automatically derive a schema</vt:lpstr>
      <vt:lpstr>Why can’t we use schema mount?</vt:lpstr>
      <vt:lpstr>Modelling template contents</vt:lpstr>
      <vt:lpstr>Modelling template contents</vt:lpstr>
      <vt:lpstr>Backup slides</vt:lpstr>
      <vt:lpstr>Key concepts</vt:lpstr>
      <vt:lpstr>Defining and applying templates</vt:lpstr>
      <vt:lpstr>apply-templates: RFC 7952 metadata</vt:lpstr>
      <vt:lpstr>Expansion and precedence rules</vt:lpstr>
      <vt:lpstr>Validation</vt:lpstr>
      <vt:lpstr>Worked example</vt:lpstr>
      <vt:lpstr>Worked example</vt:lpstr>
      <vt:lpstr>Defining a Template</vt:lpstr>
      <vt:lpstr>Defining a Template</vt:lpstr>
      <vt:lpstr>Applying a Template</vt:lpstr>
      <vt:lpstr>Applying a Template</vt:lpstr>
      <vt:lpstr>Using simple patterns to restrict templates</vt:lpstr>
      <vt:lpstr>Updating a template</vt:lpstr>
      <vt:lpstr>Overriding a template</vt:lpstr>
      <vt:lpstr>Expansion and precedence rules</vt:lpstr>
      <vt:lpstr>Editing RFC 7952 metadata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YANG Configuration Templates  draft-tt-netmod-yang-config-templates-02</dc:title>
  <dc:creator>James Cumming (Nokia)</dc:creator>
  <cp:lastModifiedBy>maqiufang (A)</cp:lastModifiedBy>
  <cp:revision>28</cp:revision>
  <cp:lastPrinted>2025-07-15T10:08:33Z</cp:lastPrinted>
  <dcterms:created xsi:type="dcterms:W3CDTF">2024-10-24T02:53:58Z</dcterms:created>
  <dcterms:modified xsi:type="dcterms:W3CDTF">2026-03-10T02:56:46Z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89e4fd-a2fa-47bf-9b21-17f706ee2968_Enabled">
    <vt:lpwstr>true</vt:lpwstr>
  </property>
  <property fmtid="{D5CDD505-2E9C-101B-9397-08002B2CF9AE}" pid="3" name="MSIP_Label_a189e4fd-a2fa-47bf-9b21-17f706ee2968_SetDate">
    <vt:lpwstr>2025-07-08T13:52:06Z</vt:lpwstr>
  </property>
  <property fmtid="{D5CDD505-2E9C-101B-9397-08002B2CF9AE}" pid="4" name="MSIP_Label_a189e4fd-a2fa-47bf-9b21-17f706ee2968_Method">
    <vt:lpwstr>Privileged</vt:lpwstr>
  </property>
  <property fmtid="{D5CDD505-2E9C-101B-9397-08002B2CF9AE}" pid="5" name="MSIP_Label_a189e4fd-a2fa-47bf-9b21-17f706ee2968_Name">
    <vt:lpwstr>Cisco Public Label</vt:lpwstr>
  </property>
  <property fmtid="{D5CDD505-2E9C-101B-9397-08002B2CF9AE}" pid="6" name="MSIP_Label_a189e4fd-a2fa-47bf-9b21-17f706ee2968_SiteId">
    <vt:lpwstr>5ae1af62-9505-4097-a69a-c1553ef7840e</vt:lpwstr>
  </property>
  <property fmtid="{D5CDD505-2E9C-101B-9397-08002B2CF9AE}" pid="7" name="MSIP_Label_a189e4fd-a2fa-47bf-9b21-17f706ee2968_ActionId">
    <vt:lpwstr>749f6584-a879-469d-b711-f017a4f5d72d</vt:lpwstr>
  </property>
  <property fmtid="{D5CDD505-2E9C-101B-9397-08002B2CF9AE}" pid="8" name="MSIP_Label_a189e4fd-a2fa-47bf-9b21-17f706ee2968_ContentBits">
    <vt:lpwstr>2</vt:lpwstr>
  </property>
  <property fmtid="{D5CDD505-2E9C-101B-9397-08002B2CF9AE}" pid="9" name="MSIP_Label_a189e4fd-a2fa-47bf-9b21-17f706ee2968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</vt:lpwstr>
  </property>
  <property fmtid="{D5CDD505-2E9C-101B-9397-08002B2CF9AE}" pid="12" name="_readonly">
    <vt:lpwstr/>
  </property>
  <property fmtid="{D5CDD505-2E9C-101B-9397-08002B2CF9AE}" pid="13" name="_change">
    <vt:lpwstr/>
  </property>
  <property fmtid="{D5CDD505-2E9C-101B-9397-08002B2CF9AE}" pid="14" name="_full-control">
    <vt:lpwstr/>
  </property>
  <property fmtid="{D5CDD505-2E9C-101B-9397-08002B2CF9AE}" pid="15" name="sflag">
    <vt:lpwstr>1772248168</vt:lpwstr>
  </property>
</Properties>
</file>